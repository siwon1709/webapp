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Source Han Sans KR Bold" charset="1" panose="020B0800000000000000"/>
      <p:regular r:id="rId35"/>
    </p:embeddedFont>
    <p:embeddedFont>
      <p:font typeface="Source Han Sans KR" charset="1" panose="020B0400000000000000"/>
      <p:regular r:id="rId36"/>
    </p:embeddedFont>
    <p:embeddedFont>
      <p:font typeface="Source Han Sans KR Medium" charset="1" panose="020B0600000000000000"/>
      <p:regular r:id="rId37"/>
    </p:embeddedFont>
    <p:embeddedFont>
      <p:font typeface="JASO Sans Bold" charset="1" panose="020E0002060000000900"/>
      <p:regular r:id="rId38"/>
    </p:embeddedFont>
    <p:embeddedFont>
      <p:font typeface="Source Han Sans KR Light" charset="1" panose="020B03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8144">
            <a:off x="2403516" y="2097875"/>
            <a:ext cx="9088248" cy="384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89"/>
              </a:lnSpc>
            </a:pPr>
            <a:r>
              <a:rPr lang="en-US" b="true" sz="8491" spc="-263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IIS 발표</a:t>
            </a:r>
          </a:p>
          <a:p>
            <a:pPr algn="l" marL="0" indent="0" lvl="0">
              <a:lnSpc>
                <a:spcPts val="10189"/>
              </a:lnSpc>
            </a:pPr>
            <a:r>
              <a:rPr lang="en-US" b="true" sz="8491" spc="-263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부산 로컬 플레이스</a:t>
            </a:r>
          </a:p>
          <a:p>
            <a:pPr algn="l" marL="0" indent="0" lvl="0">
              <a:lnSpc>
                <a:spcPts val="10189"/>
              </a:lnSpc>
            </a:pPr>
            <a:r>
              <a:rPr lang="en-US" b="true" sz="8491" spc="-263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웹사이트 실전 구축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93374" y="6396938"/>
            <a:ext cx="8956324" cy="63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6"/>
              </a:lnSpc>
            </a:pPr>
            <a:r>
              <a:rPr lang="en-US" sz="3497" spc="-143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Todo/이벤트 처리, API 파싱, DB 연동 포함</a:t>
            </a:r>
          </a:p>
        </p:txBody>
      </p:sp>
      <p:sp>
        <p:nvSpPr>
          <p:cNvPr name="AutoShape 4" id="4"/>
          <p:cNvSpPr/>
          <p:nvPr/>
        </p:nvSpPr>
        <p:spPr>
          <a:xfrm>
            <a:off x="2455287" y="8004920"/>
            <a:ext cx="0" cy="817495"/>
          </a:xfrm>
          <a:prstGeom prst="line">
            <a:avLst/>
          </a:prstGeom>
          <a:ln cap="flat" w="123825">
            <a:solidFill>
              <a:srgbClr val="2545C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506602" y="7974109"/>
            <a:ext cx="2615755" cy="3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8"/>
              </a:lnSpc>
            </a:pPr>
            <a:r>
              <a:rPr lang="en-US" sz="1998" spc="-71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웹프로그래밍 응용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73357" y="7974109"/>
            <a:ext cx="688509" cy="3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8"/>
              </a:lnSpc>
            </a:pPr>
            <a:r>
              <a:rPr lang="en-US" b="true" sz="1998" spc="-71">
                <a:solidFill>
                  <a:srgbClr val="222222">
                    <a:alpha val="93725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과목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73357" y="8519216"/>
            <a:ext cx="590235" cy="3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8"/>
              </a:lnSpc>
            </a:pPr>
            <a:r>
              <a:rPr lang="en-US" b="true" sz="1998" spc="-71">
                <a:solidFill>
                  <a:srgbClr val="222222">
                    <a:alpha val="93725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팀원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06602" y="8519216"/>
            <a:ext cx="1491549" cy="3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8"/>
              </a:lnSpc>
            </a:pPr>
            <a:r>
              <a:rPr lang="en-US" sz="1998" spc="-71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김근우, 이시원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250" y="962025"/>
            <a:ext cx="641032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2"/>
              </a:lnSpc>
              <a:spcBef>
                <a:spcPct val="0"/>
              </a:spcBef>
            </a:pPr>
            <a:r>
              <a:rPr lang="en-US" b="true" sz="7935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목차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9250" y="2343150"/>
            <a:ext cx="641985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9"/>
              </a:lnSpc>
              <a:spcBef>
                <a:spcPct val="0"/>
              </a:spcBef>
            </a:pPr>
            <a:r>
              <a:rPr lang="en-US" sz="4299" strike="noStrike" u="none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발표 순서 및 구성</a:t>
            </a:r>
          </a:p>
        </p:txBody>
      </p:sp>
      <p:sp>
        <p:nvSpPr>
          <p:cNvPr name="AutoShape 4" id="4"/>
          <p:cNvSpPr/>
          <p:nvPr/>
        </p:nvSpPr>
        <p:spPr>
          <a:xfrm>
            <a:off x="1619250" y="3524250"/>
            <a:ext cx="0" cy="4714875"/>
          </a:xfrm>
          <a:prstGeom prst="line">
            <a:avLst/>
          </a:prstGeom>
          <a:ln cap="rnd" w="38100">
            <a:solidFill>
              <a:srgbClr val="2545C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857375" y="3467100"/>
            <a:ext cx="11430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1. IIS 소개 &amp; 웹 서비스 구조 이해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57375" y="4181475"/>
            <a:ext cx="11430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2. IIS 설치 &amp; 기본 페이지 띄우기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7375" y="4895850"/>
            <a:ext cx="11430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3. 부산 로컬 플레이스 PRD 소개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7375" y="5610225"/>
            <a:ext cx="11430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4. 핵심 기능 1: Todo(이벤트 처리) 구현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7375" y="6324600"/>
            <a:ext cx="11430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5. 핵심 기능 2: 외부 API 파싱(부산 날씨/명소 API)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7375" y="7038975"/>
            <a:ext cx="11430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6. 핵심 기능 3: DB 연동(간단한 리뷰 저장)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7375" y="7753350"/>
            <a:ext cx="11430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7. 정리 &amp; Q&amp;A (3분)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8144">
            <a:off x="1622834" y="965168"/>
            <a:ext cx="640619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92"/>
              </a:lnSpc>
            </a:pPr>
            <a:r>
              <a:rPr lang="en-US" b="true" sz="7910" spc="-245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IIS란 무엇인가?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711" y="2340786"/>
            <a:ext cx="6413344" cy="77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3"/>
              </a:lnSpc>
            </a:pPr>
            <a:r>
              <a:rPr lang="en-US" sz="4268" spc="-175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IIS 및 웹 서버 기본 개념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6088" y="4311531"/>
            <a:ext cx="2691029" cy="1347183"/>
            <a:chOff x="0" y="0"/>
            <a:chExt cx="3588039" cy="179624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588039" cy="1796244"/>
              <a:chOff x="0" y="0"/>
              <a:chExt cx="635000" cy="31789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" cy="317894"/>
              </a:xfrm>
              <a:custGeom>
                <a:avLst/>
                <a:gdLst/>
                <a:ahLst/>
                <a:cxnLst/>
                <a:rect r="r" b="b" t="t" l="l"/>
                <a:pathLst>
                  <a:path h="317894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17894"/>
                    </a:lnTo>
                    <a:lnTo>
                      <a:pt x="0" y="317894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635000" cy="3274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85729" y="633638"/>
              <a:ext cx="3016581" cy="61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45"/>
                </a:lnSpc>
              </a:pPr>
              <a:r>
                <a:rPr lang="en-US" b="true" sz="3484" spc="-212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개념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26799" y="4311531"/>
            <a:ext cx="12069863" cy="1347257"/>
            <a:chOff x="0" y="0"/>
            <a:chExt cx="2848116" cy="317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16088" y="6049314"/>
            <a:ext cx="2691029" cy="1347183"/>
            <a:chOff x="0" y="0"/>
            <a:chExt cx="3588039" cy="179624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588039" cy="1796244"/>
              <a:chOff x="0" y="0"/>
              <a:chExt cx="635000" cy="31789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" cy="317894"/>
              </a:xfrm>
              <a:custGeom>
                <a:avLst/>
                <a:gdLst/>
                <a:ahLst/>
                <a:cxnLst/>
                <a:rect r="r" b="b" t="t" l="l"/>
                <a:pathLst>
                  <a:path h="317894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17894"/>
                    </a:lnTo>
                    <a:lnTo>
                      <a:pt x="0" y="317894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635000" cy="3274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85729" y="633638"/>
              <a:ext cx="3016581" cy="61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45"/>
                </a:lnSpc>
              </a:pPr>
              <a:r>
                <a:rPr lang="en-US" b="true" sz="3484" spc="-212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역할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26799" y="6049314"/>
            <a:ext cx="12069863" cy="1347257"/>
            <a:chOff x="0" y="0"/>
            <a:chExt cx="2848116" cy="3179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16088" y="7808417"/>
            <a:ext cx="2691029" cy="1347183"/>
            <a:chOff x="0" y="0"/>
            <a:chExt cx="3588039" cy="179624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588039" cy="1796244"/>
              <a:chOff x="0" y="0"/>
              <a:chExt cx="635000" cy="31789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" cy="317894"/>
              </a:xfrm>
              <a:custGeom>
                <a:avLst/>
                <a:gdLst/>
                <a:ahLst/>
                <a:cxnLst/>
                <a:rect r="r" b="b" t="t" l="l"/>
                <a:pathLst>
                  <a:path h="317894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17894"/>
                    </a:lnTo>
                    <a:lnTo>
                      <a:pt x="0" y="317894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635000" cy="3274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85729" y="633638"/>
              <a:ext cx="3016581" cy="61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45"/>
                </a:lnSpc>
              </a:pPr>
              <a:r>
                <a:rPr lang="en-US" b="true" sz="3484" spc="-212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기능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26799" y="7808417"/>
            <a:ext cx="12069863" cy="1347257"/>
            <a:chOff x="0" y="0"/>
            <a:chExt cx="2848116" cy="317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025652" y="4656547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IIS(Internet Information Services)는 Microsoft의 웹 서버 소프트웨어입니다.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25652" y="6394329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웹 서버는 클라이언트 요청을 처리하고 웹 콘텐츠를 제공하는 핵심 역할을 합니다.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25652" y="8153433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IIS는 HTTP/HTTPS 지원, 보안 기능, 확장성 등 다양한 기능을 제공합니다.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4545">
            <a:off x="1705431" y="3485825"/>
            <a:ext cx="283804" cy="330245"/>
          </a:xfrm>
          <a:custGeom>
            <a:avLst/>
            <a:gdLst/>
            <a:ahLst/>
            <a:cxnLst/>
            <a:rect r="r" b="b" t="t" l="l"/>
            <a:pathLst>
              <a:path h="330245" w="283804">
                <a:moveTo>
                  <a:pt x="0" y="0"/>
                </a:moveTo>
                <a:lnTo>
                  <a:pt x="283804" y="0"/>
                </a:lnTo>
                <a:lnTo>
                  <a:pt x="283804" y="330245"/>
                </a:lnTo>
                <a:lnTo>
                  <a:pt x="0" y="330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8144">
            <a:off x="1623253" y="962235"/>
            <a:ext cx="7517154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2"/>
              </a:lnSpc>
            </a:pPr>
            <a:r>
              <a:rPr lang="en-US" b="true" sz="8993" spc="-278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IIS의 주요 특징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711" y="2340786"/>
            <a:ext cx="6413344" cy="77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3"/>
              </a:lnSpc>
            </a:pPr>
            <a:r>
              <a:rPr lang="en-US" sz="4268" spc="-175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Key Features of IIS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2725" y="3939327"/>
            <a:ext cx="10028449" cy="107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IIS가 제공하는 핵심 기능과 장점을 소개합니다.</a:t>
            </a:r>
          </a:p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각 특징이 웹 서비스 운영에 어떻게 기여하는지 확인하세요.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92064" y="5435181"/>
            <a:ext cx="15503872" cy="3800694"/>
            <a:chOff x="0" y="0"/>
            <a:chExt cx="4083324" cy="10010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83324" cy="1001006"/>
            </a:xfrm>
            <a:custGeom>
              <a:avLst/>
              <a:gdLst/>
              <a:ahLst/>
              <a:cxnLst/>
              <a:rect r="r" b="b" t="t" l="l"/>
              <a:pathLst>
                <a:path h="1001006" w="4083324">
                  <a:moveTo>
                    <a:pt x="0" y="0"/>
                  </a:moveTo>
                  <a:lnTo>
                    <a:pt x="4083324" y="0"/>
                  </a:lnTo>
                  <a:lnTo>
                    <a:pt x="4083324" y="1001006"/>
                  </a:lnTo>
                  <a:lnTo>
                    <a:pt x="0" y="1001006"/>
                  </a:lnTo>
                  <a:close/>
                </a:path>
              </a:pathLst>
            </a:custGeom>
            <a:ln w="19050" cap="sq">
              <a:solidFill>
                <a:srgbClr val="42424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083324" cy="1048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10984" y="5902466"/>
            <a:ext cx="3770872" cy="2751304"/>
            <a:chOff x="0" y="0"/>
            <a:chExt cx="5027829" cy="366840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3363" y="-47625"/>
              <a:ext cx="5021102" cy="591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7"/>
                </a:lnSpc>
                <a:spcBef>
                  <a:spcPct val="0"/>
                </a:spcBef>
              </a:pPr>
              <a:r>
                <a:rPr lang="en-US" b="true" sz="2698" spc="-8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프로토콜 지원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70375"/>
              <a:ext cx="5027829" cy="430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98"/>
                </a:lnSpc>
                <a:spcBef>
                  <a:spcPct val="0"/>
                </a:spcBef>
              </a:pPr>
              <a:r>
                <a:rPr lang="en-US" b="true" sz="1998" spc="-59">
                  <a:solidFill>
                    <a:srgbClr val="767676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HTTP/HTTPS 통신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6487" y="1827916"/>
              <a:ext cx="4694856" cy="1840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HTTP 및 HTTPS 프로토콜 </a:t>
              </a:r>
            </a:p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완벽 지원</a:t>
              </a:r>
            </a:p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SSL/TLS 암호화 통신으로 </a:t>
              </a:r>
            </a:p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보안 강화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373282" y="5902466"/>
            <a:ext cx="3770872" cy="2751304"/>
            <a:chOff x="0" y="0"/>
            <a:chExt cx="5027829" cy="366840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3363" y="-47625"/>
              <a:ext cx="5021102" cy="591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7"/>
                </a:lnSpc>
                <a:spcBef>
                  <a:spcPct val="0"/>
                </a:spcBef>
              </a:pPr>
              <a:r>
                <a:rPr lang="en-US" b="true" sz="2698" spc="-8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보안 기능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70375"/>
              <a:ext cx="5027829" cy="430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98"/>
                </a:lnSpc>
                <a:spcBef>
                  <a:spcPct val="0"/>
                </a:spcBef>
              </a:pPr>
              <a:r>
                <a:rPr lang="en-US" b="true" sz="1998" spc="-59">
                  <a:solidFill>
                    <a:srgbClr val="767676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인증 및 권한 관리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6487" y="1827916"/>
              <a:ext cx="4694856" cy="1840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Windows 인증, 기본 인증 등 </a:t>
              </a:r>
            </a:p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다양한 인증 방식</a:t>
              </a:r>
            </a:p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URL 권한 부여 및 SSL 인증서</a:t>
              </a:r>
            </a:p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관리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35580" y="5902466"/>
            <a:ext cx="3770872" cy="2398879"/>
            <a:chOff x="0" y="0"/>
            <a:chExt cx="5027829" cy="319850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3363" y="-47625"/>
              <a:ext cx="5021102" cy="591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7"/>
                </a:lnSpc>
                <a:spcBef>
                  <a:spcPct val="0"/>
                </a:spcBef>
              </a:pPr>
              <a:r>
                <a:rPr lang="en-US" b="true" sz="2698" spc="-8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확장성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970375"/>
              <a:ext cx="5027829" cy="430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98"/>
                </a:lnSpc>
                <a:spcBef>
                  <a:spcPct val="0"/>
                </a:spcBef>
              </a:pPr>
              <a:r>
                <a:rPr lang="en-US" b="true" sz="1998" spc="-59">
                  <a:solidFill>
                    <a:srgbClr val="767676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모듈화 아키텍처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66487" y="1827916"/>
              <a:ext cx="4694856" cy="1370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필요한 모듈만 선택적으로 </a:t>
              </a:r>
            </a:p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추가/제거 가능</a:t>
              </a:r>
            </a:p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커스텀 모듈 개발로 기능 확장 용이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97878" y="5902466"/>
            <a:ext cx="3770872" cy="2398879"/>
            <a:chOff x="0" y="0"/>
            <a:chExt cx="5027829" cy="319850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3363" y="-47625"/>
              <a:ext cx="5021102" cy="591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7"/>
                </a:lnSpc>
                <a:spcBef>
                  <a:spcPct val="0"/>
                </a:spcBef>
              </a:pPr>
              <a:r>
                <a:rPr lang="en-US" b="true" sz="2698" spc="-80">
                  <a:solidFill>
                    <a:srgbClr val="000000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관리 도구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970375"/>
              <a:ext cx="5027829" cy="430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98"/>
                </a:lnSpc>
                <a:spcBef>
                  <a:spcPct val="0"/>
                </a:spcBef>
              </a:pPr>
              <a:r>
                <a:rPr lang="en-US" b="true" sz="1998" spc="-59">
                  <a:solidFill>
                    <a:srgbClr val="767676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편리한 관리 환경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66487" y="1827916"/>
              <a:ext cx="4694856" cy="1370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IIS 관리자 GUI로 직관적 설정 가능</a:t>
              </a:r>
            </a:p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PowerShell, appcmd 명령줄</a:t>
              </a:r>
            </a:p>
            <a:p>
              <a:pPr algn="l" marL="0" indent="0" lvl="0">
                <a:lnSpc>
                  <a:spcPts val="2798"/>
                </a:lnSpc>
              </a:pPr>
              <a:r>
                <a:rPr lang="en-US" b="true" sz="1998" spc="-5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도구 지원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250" y="962025"/>
            <a:ext cx="85725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2"/>
              </a:lnSpc>
              <a:spcBef>
                <a:spcPct val="0"/>
              </a:spcBef>
            </a:pPr>
            <a:r>
              <a:rPr lang="en-US" b="true" sz="7935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IIS 웹 서비스 구조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9250" y="2621280"/>
            <a:ext cx="752475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9"/>
              </a:lnSpc>
              <a:spcBef>
                <a:spcPct val="0"/>
              </a:spcBef>
            </a:pPr>
            <a:r>
              <a:rPr lang="en-US" sz="4299" strike="noStrike" u="none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클라이언트 요청이 처리되는 흐름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00250" y="4762500"/>
            <a:ext cx="2857500" cy="1905000"/>
            <a:chOff x="0" y="0"/>
            <a:chExt cx="3810000" cy="254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3810000">
                  <a:moveTo>
                    <a:pt x="254000" y="0"/>
                  </a:moveTo>
                  <a:lnTo>
                    <a:pt x="3556000" y="0"/>
                  </a:lnTo>
                  <a:cubicBezTo>
                    <a:pt x="3696280" y="0"/>
                    <a:pt x="3810000" y="113720"/>
                    <a:pt x="3810000" y="254000"/>
                  </a:cubicBezTo>
                  <a:lnTo>
                    <a:pt x="3810000" y="2286000"/>
                  </a:lnTo>
                  <a:cubicBezTo>
                    <a:pt x="3810000" y="2426280"/>
                    <a:pt x="3696280" y="2540000"/>
                    <a:pt x="355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E8ECFA"/>
            </a:solidFill>
            <a:ln w="19050" cap="sq">
              <a:solidFill>
                <a:srgbClr val="2545C3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2190750" y="5238750"/>
            <a:ext cx="2476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2545C3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클라이언트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43125" y="5953125"/>
            <a:ext cx="25717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HTTP 요청 전송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810250" y="4762500"/>
            <a:ext cx="2857500" cy="1905000"/>
            <a:chOff x="0" y="0"/>
            <a:chExt cx="3810000" cy="254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3810000">
                  <a:moveTo>
                    <a:pt x="254000" y="0"/>
                  </a:moveTo>
                  <a:lnTo>
                    <a:pt x="3556000" y="0"/>
                  </a:lnTo>
                  <a:cubicBezTo>
                    <a:pt x="3696280" y="0"/>
                    <a:pt x="3810000" y="113720"/>
                    <a:pt x="3810000" y="254000"/>
                  </a:cubicBezTo>
                  <a:lnTo>
                    <a:pt x="3810000" y="2286000"/>
                  </a:lnTo>
                  <a:cubicBezTo>
                    <a:pt x="3810000" y="2426280"/>
                    <a:pt x="3696280" y="2540000"/>
                    <a:pt x="355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000750" y="5238750"/>
            <a:ext cx="2476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IIS 웹 서버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53125" y="5953125"/>
            <a:ext cx="25717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요청 수신 &amp; 라우팅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20250" y="4762500"/>
            <a:ext cx="2857500" cy="1905000"/>
            <a:chOff x="0" y="0"/>
            <a:chExt cx="3810000" cy="254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3810000">
                  <a:moveTo>
                    <a:pt x="254000" y="0"/>
                  </a:moveTo>
                  <a:lnTo>
                    <a:pt x="3556000" y="0"/>
                  </a:lnTo>
                  <a:cubicBezTo>
                    <a:pt x="3696280" y="0"/>
                    <a:pt x="3810000" y="113720"/>
                    <a:pt x="3810000" y="254000"/>
                  </a:cubicBezTo>
                  <a:lnTo>
                    <a:pt x="3810000" y="2286000"/>
                  </a:lnTo>
                  <a:cubicBezTo>
                    <a:pt x="3810000" y="2426280"/>
                    <a:pt x="3696280" y="2540000"/>
                    <a:pt x="355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810750" y="5238750"/>
            <a:ext cx="24765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ASP.NET</a:t>
            </a:r>
          </a:p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애플리케이션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63125" y="6029325"/>
            <a:ext cx="25717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비즈니스 로직 처리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430250" y="4762500"/>
            <a:ext cx="2857500" cy="1905000"/>
            <a:chOff x="0" y="0"/>
            <a:chExt cx="3810000" cy="254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3810000">
                  <a:moveTo>
                    <a:pt x="254000" y="0"/>
                  </a:moveTo>
                  <a:lnTo>
                    <a:pt x="3556000" y="0"/>
                  </a:lnTo>
                  <a:cubicBezTo>
                    <a:pt x="3696280" y="0"/>
                    <a:pt x="3810000" y="113720"/>
                    <a:pt x="3810000" y="254000"/>
                  </a:cubicBezTo>
                  <a:lnTo>
                    <a:pt x="3810000" y="2286000"/>
                  </a:lnTo>
                  <a:cubicBezTo>
                    <a:pt x="3810000" y="2426280"/>
                    <a:pt x="3696280" y="2540000"/>
                    <a:pt x="3556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620750" y="5238750"/>
            <a:ext cx="2476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73125" y="5953125"/>
            <a:ext cx="25717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데이터 저장/조회</a:t>
            </a:r>
          </a:p>
        </p:txBody>
      </p:sp>
      <p:sp>
        <p:nvSpPr>
          <p:cNvPr name="AutoShape 20" id="20"/>
          <p:cNvSpPr/>
          <p:nvPr/>
        </p:nvSpPr>
        <p:spPr>
          <a:xfrm>
            <a:off x="4905375" y="5715000"/>
            <a:ext cx="857250" cy="0"/>
          </a:xfrm>
          <a:prstGeom prst="line">
            <a:avLst/>
          </a:prstGeom>
          <a:ln cap="rnd" w="28575">
            <a:solidFill>
              <a:srgbClr val="2545C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>
            <a:off x="8715375" y="5715000"/>
            <a:ext cx="857250" cy="0"/>
          </a:xfrm>
          <a:prstGeom prst="line">
            <a:avLst/>
          </a:prstGeom>
          <a:ln cap="rnd" w="28575">
            <a:solidFill>
              <a:srgbClr val="2545C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12525375" y="5715000"/>
            <a:ext cx="857250" cy="0"/>
          </a:xfrm>
          <a:prstGeom prst="line">
            <a:avLst/>
          </a:prstGeom>
          <a:ln cap="rnd" w="28575">
            <a:solidFill>
              <a:srgbClr val="2545C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3" id="23"/>
          <p:cNvSpPr txBox="true"/>
          <p:nvPr/>
        </p:nvSpPr>
        <p:spPr>
          <a:xfrm rot="0">
            <a:off x="1619250" y="7553325"/>
            <a:ext cx="15475245" cy="3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555555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① 클라이언트가 브라우저로 요청  →  ② IIS가 요청을 수신하여 적절한 앱에 전달  →  ③ 앱이 로직 수행  →  ④ DB에서 데이터</a:t>
            </a:r>
            <a:r>
              <a:rPr lang="en-US" sz="2000" strike="noStrike" u="none">
                <a:solidFill>
                  <a:srgbClr val="555555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처리 후 응답 반환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530458" y="5796782"/>
            <a:ext cx="1553773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-18144">
            <a:off x="1622080" y="955645"/>
            <a:ext cx="640619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4"/>
              </a:lnSpc>
            </a:pPr>
            <a:r>
              <a:rPr lang="en-US" b="true" sz="6120" spc="-189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IIS 설치 및 기본 설정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711" y="2350311"/>
            <a:ext cx="6413344" cy="67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4"/>
              </a:lnSpc>
            </a:pPr>
            <a:r>
              <a:rPr lang="en-US" sz="3664" spc="-150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Windows Server에서 IIS 설치 과정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0958" y="6134200"/>
            <a:ext cx="2876550" cy="39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3"/>
              </a:lnSpc>
              <a:spcBef>
                <a:spcPct val="0"/>
              </a:spcBef>
            </a:pPr>
            <a:r>
              <a:rPr lang="en-US" b="true" sz="2316" spc="-6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서버 관리자 실행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0958" y="6830930"/>
            <a:ext cx="2876550" cy="68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Windows 서버 관리자를</a:t>
            </a:r>
          </a:p>
          <a:p>
            <a:pPr algn="ctr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실행합니다.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5029" y="7715168"/>
            <a:ext cx="2895600" cy="138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시작 메뉴에서 서버 관리자 실행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역할 및 기능 추가 선택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설치 마법사 시작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50958" y="4237261"/>
            <a:ext cx="2876550" cy="1174479"/>
            <a:chOff x="0" y="0"/>
            <a:chExt cx="568207" cy="2319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207" cy="231996"/>
            </a:xfrm>
            <a:custGeom>
              <a:avLst/>
              <a:gdLst/>
              <a:ahLst/>
              <a:cxnLst/>
              <a:rect r="r" b="b" t="t" l="l"/>
              <a:pathLst>
                <a:path h="231996" w="568207">
                  <a:moveTo>
                    <a:pt x="0" y="0"/>
                  </a:moveTo>
                  <a:lnTo>
                    <a:pt x="357132" y="0"/>
                  </a:lnTo>
                  <a:cubicBezTo>
                    <a:pt x="473276" y="0"/>
                    <a:pt x="568207" y="51934"/>
                    <a:pt x="568207" y="115998"/>
                  </a:cubicBezTo>
                  <a:cubicBezTo>
                    <a:pt x="568207" y="180062"/>
                    <a:pt x="473276" y="231996"/>
                    <a:pt x="357132" y="231996"/>
                  </a:cubicBezTo>
                  <a:lnTo>
                    <a:pt x="0" y="23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5400" y="-38100"/>
              <a:ext cx="339607" cy="27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10188" y="4538750"/>
            <a:ext cx="758089" cy="5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8"/>
              </a:lnSpc>
            </a:pPr>
            <a:r>
              <a:rPr lang="en-US" b="true" sz="4289" spc="-26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42612" y="6134200"/>
            <a:ext cx="2876550" cy="39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3"/>
              </a:lnSpc>
              <a:spcBef>
                <a:spcPct val="0"/>
              </a:spcBef>
            </a:pPr>
            <a:r>
              <a:rPr lang="en-US" b="true" sz="2316" spc="-6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IIS 역할 추가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42612" y="6830930"/>
            <a:ext cx="2876550" cy="68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웹 서버(IIS) 역할을</a:t>
            </a:r>
          </a:p>
          <a:p>
            <a:pPr algn="ctr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추가합니다.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16684" y="7715168"/>
            <a:ext cx="2895600" cy="103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서버 역할에서 웹 서버 선택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필요한 기능 자동 추가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역할 서비스 구성 확인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542612" y="4237261"/>
            <a:ext cx="2876550" cy="1174479"/>
            <a:chOff x="0" y="0"/>
            <a:chExt cx="568207" cy="2319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8207" cy="231996"/>
            </a:xfrm>
            <a:custGeom>
              <a:avLst/>
              <a:gdLst/>
              <a:ahLst/>
              <a:cxnLst/>
              <a:rect r="r" b="b" t="t" l="l"/>
              <a:pathLst>
                <a:path h="231996" w="568207">
                  <a:moveTo>
                    <a:pt x="0" y="0"/>
                  </a:moveTo>
                  <a:lnTo>
                    <a:pt x="357132" y="0"/>
                  </a:lnTo>
                  <a:cubicBezTo>
                    <a:pt x="473276" y="0"/>
                    <a:pt x="568207" y="51934"/>
                    <a:pt x="568207" y="115998"/>
                  </a:cubicBezTo>
                  <a:cubicBezTo>
                    <a:pt x="568207" y="180062"/>
                    <a:pt x="473276" y="231996"/>
                    <a:pt x="357132" y="231996"/>
                  </a:cubicBezTo>
                  <a:lnTo>
                    <a:pt x="0" y="23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5400" y="-38100"/>
              <a:ext cx="339607" cy="27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601842" y="4538750"/>
            <a:ext cx="758089" cy="5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8"/>
              </a:lnSpc>
            </a:pPr>
            <a:r>
              <a:rPr lang="en-US" b="true" sz="4289" spc="-26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34266" y="6134200"/>
            <a:ext cx="2876550" cy="39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3"/>
              </a:lnSpc>
              <a:spcBef>
                <a:spcPct val="0"/>
              </a:spcBef>
            </a:pPr>
            <a:r>
              <a:rPr lang="en-US" b="true" sz="2316" spc="-6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웹사이트 생성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34266" y="6830930"/>
            <a:ext cx="2876550" cy="68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기본 웹사이트를</a:t>
            </a:r>
          </a:p>
          <a:p>
            <a:pPr algn="ctr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생성합니다.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08338" y="7715168"/>
            <a:ext cx="3117582" cy="103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IIS 관리자 실행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사이트 추가 메뉴 선택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사이트 이름 및 경로 지정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734266" y="4237261"/>
            <a:ext cx="2876550" cy="1174479"/>
            <a:chOff x="0" y="0"/>
            <a:chExt cx="568207" cy="2319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8207" cy="231996"/>
            </a:xfrm>
            <a:custGeom>
              <a:avLst/>
              <a:gdLst/>
              <a:ahLst/>
              <a:cxnLst/>
              <a:rect r="r" b="b" t="t" l="l"/>
              <a:pathLst>
                <a:path h="231996" w="568207">
                  <a:moveTo>
                    <a:pt x="0" y="0"/>
                  </a:moveTo>
                  <a:lnTo>
                    <a:pt x="357132" y="0"/>
                  </a:lnTo>
                  <a:cubicBezTo>
                    <a:pt x="473276" y="0"/>
                    <a:pt x="568207" y="51934"/>
                    <a:pt x="568207" y="115998"/>
                  </a:cubicBezTo>
                  <a:cubicBezTo>
                    <a:pt x="568207" y="180062"/>
                    <a:pt x="473276" y="231996"/>
                    <a:pt x="357132" y="231996"/>
                  </a:cubicBezTo>
                  <a:lnTo>
                    <a:pt x="0" y="23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25400" y="-38100"/>
              <a:ext cx="339607" cy="27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793496" y="4538750"/>
            <a:ext cx="758089" cy="5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8"/>
              </a:lnSpc>
            </a:pPr>
            <a:r>
              <a:rPr lang="en-US" b="true" sz="4289" spc="-26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25920" y="6134200"/>
            <a:ext cx="2876550" cy="39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3"/>
              </a:lnSpc>
              <a:spcBef>
                <a:spcPct val="0"/>
              </a:spcBef>
            </a:pPr>
            <a:r>
              <a:rPr lang="en-US" b="true" sz="2316" spc="-6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설정 구성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25920" y="6830930"/>
            <a:ext cx="2876550" cy="68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바인딩 및 권한을</a:t>
            </a:r>
          </a:p>
          <a:p>
            <a:pPr algn="ctr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설정합니다.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99992" y="7715168"/>
            <a:ext cx="2895600" cy="103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포트 번호 설정 (기본 80)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호스트 이름 바인딩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디렉터리 권한 구성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925920" y="4237261"/>
            <a:ext cx="2876550" cy="1174479"/>
            <a:chOff x="0" y="0"/>
            <a:chExt cx="568207" cy="2319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8207" cy="231996"/>
            </a:xfrm>
            <a:custGeom>
              <a:avLst/>
              <a:gdLst/>
              <a:ahLst/>
              <a:cxnLst/>
              <a:rect r="r" b="b" t="t" l="l"/>
              <a:pathLst>
                <a:path h="231996" w="568207">
                  <a:moveTo>
                    <a:pt x="0" y="0"/>
                  </a:moveTo>
                  <a:lnTo>
                    <a:pt x="357132" y="0"/>
                  </a:lnTo>
                  <a:cubicBezTo>
                    <a:pt x="473276" y="0"/>
                    <a:pt x="568207" y="51934"/>
                    <a:pt x="568207" y="115998"/>
                  </a:cubicBezTo>
                  <a:cubicBezTo>
                    <a:pt x="568207" y="180062"/>
                    <a:pt x="473276" y="231996"/>
                    <a:pt x="357132" y="231996"/>
                  </a:cubicBezTo>
                  <a:lnTo>
                    <a:pt x="0" y="23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25400" y="-38100"/>
              <a:ext cx="339607" cy="27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985151" y="4538750"/>
            <a:ext cx="758089" cy="5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8"/>
              </a:lnSpc>
            </a:pPr>
            <a:r>
              <a:rPr lang="en-US" b="true" sz="4289" spc="-26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17574" y="6134200"/>
            <a:ext cx="2876550" cy="39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3"/>
              </a:lnSpc>
              <a:spcBef>
                <a:spcPct val="0"/>
              </a:spcBef>
            </a:pPr>
            <a:r>
              <a:rPr lang="en-US" b="true" sz="2316" spc="-6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접속 확인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17574" y="6830930"/>
            <a:ext cx="2876550" cy="68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localhost로 접속하여</a:t>
            </a:r>
          </a:p>
          <a:p>
            <a:pPr algn="ctr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동작을 확인합니다.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91646" y="7715168"/>
            <a:ext cx="2895600" cy="138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브라우저에서 localhost 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입력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IIS 시작 페이지 확인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 spc="-59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정상 동작 여부 점검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117574" y="4237261"/>
            <a:ext cx="2876550" cy="1174479"/>
            <a:chOff x="0" y="0"/>
            <a:chExt cx="568207" cy="2319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8207" cy="231996"/>
            </a:xfrm>
            <a:custGeom>
              <a:avLst/>
              <a:gdLst/>
              <a:ahLst/>
              <a:cxnLst/>
              <a:rect r="r" b="b" t="t" l="l"/>
              <a:pathLst>
                <a:path h="231996" w="568207">
                  <a:moveTo>
                    <a:pt x="0" y="0"/>
                  </a:moveTo>
                  <a:lnTo>
                    <a:pt x="357132" y="0"/>
                  </a:lnTo>
                  <a:cubicBezTo>
                    <a:pt x="473276" y="0"/>
                    <a:pt x="568207" y="51934"/>
                    <a:pt x="568207" y="115998"/>
                  </a:cubicBezTo>
                  <a:cubicBezTo>
                    <a:pt x="568207" y="180062"/>
                    <a:pt x="473276" y="231996"/>
                    <a:pt x="357132" y="231996"/>
                  </a:cubicBezTo>
                  <a:lnTo>
                    <a:pt x="0" y="23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25400" y="-38100"/>
              <a:ext cx="339607" cy="27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5176805" y="4538750"/>
            <a:ext cx="758089" cy="5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8"/>
              </a:lnSpc>
            </a:pPr>
            <a:r>
              <a:rPr lang="en-US" b="true" sz="4289" spc="-26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5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250" y="2338388"/>
            <a:ext cx="762000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제어판 - 프로그램 - Windows 기능에 접근하여 IIS를 설치합니다.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67000" y="1057275"/>
            <a:ext cx="5715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1단계: 서버 관리자 실행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250" y="1238250"/>
            <a:ext cx="762000" cy="66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2"/>
              </a:lnSpc>
              <a:spcBef>
                <a:spcPct val="0"/>
              </a:spcBef>
            </a:pPr>
            <a:r>
              <a:rPr lang="en-US" b="true" sz="5022" strike="noStrike" u="non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9250" y="1143000"/>
            <a:ext cx="762000" cy="762000"/>
            <a:chOff x="0" y="0"/>
            <a:chExt cx="1016000" cy="10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2545C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19250" y="3421380"/>
            <a:ext cx="6444959" cy="6036945"/>
          </a:xfrm>
          <a:custGeom>
            <a:avLst/>
            <a:gdLst/>
            <a:ahLst/>
            <a:cxnLst/>
            <a:rect r="r" b="b" t="t" l="l"/>
            <a:pathLst>
              <a:path h="6036945" w="6444959">
                <a:moveTo>
                  <a:pt x="0" y="0"/>
                </a:moveTo>
                <a:lnTo>
                  <a:pt x="6444959" y="0"/>
                </a:lnTo>
                <a:lnTo>
                  <a:pt x="6444959" y="6036945"/>
                </a:lnTo>
                <a:lnTo>
                  <a:pt x="0" y="6036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" r="0" b="-3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82000" y="3910323"/>
            <a:ext cx="8877300" cy="4659009"/>
          </a:xfrm>
          <a:custGeom>
            <a:avLst/>
            <a:gdLst/>
            <a:ahLst/>
            <a:cxnLst/>
            <a:rect r="r" b="b" t="t" l="l"/>
            <a:pathLst>
              <a:path h="4659009" w="8877300">
                <a:moveTo>
                  <a:pt x="0" y="0"/>
                </a:moveTo>
                <a:lnTo>
                  <a:pt x="8877300" y="0"/>
                </a:lnTo>
                <a:lnTo>
                  <a:pt x="8877300" y="4659009"/>
                </a:lnTo>
                <a:lnTo>
                  <a:pt x="0" y="465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" t="0" r="-102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970306" y="6741498"/>
            <a:ext cx="1502469" cy="603933"/>
            <a:chOff x="0" y="0"/>
            <a:chExt cx="2003291" cy="805245"/>
          </a:xfrm>
        </p:grpSpPr>
        <p:sp>
          <p:nvSpPr>
            <p:cNvPr name="AutoShape 10" id="10"/>
            <p:cNvSpPr/>
            <p:nvPr/>
          </p:nvSpPr>
          <p:spPr>
            <a:xfrm>
              <a:off x="19640" y="19640"/>
              <a:ext cx="1964011" cy="0"/>
            </a:xfrm>
            <a:prstGeom prst="line">
              <a:avLst/>
            </a:prstGeom>
            <a:ln cap="rnd" w="39280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19640" y="19640"/>
              <a:ext cx="0" cy="785605"/>
            </a:xfrm>
            <a:prstGeom prst="line">
              <a:avLst/>
            </a:prstGeom>
            <a:ln cap="rnd" w="39280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19640" y="777749"/>
              <a:ext cx="1964011" cy="0"/>
            </a:xfrm>
            <a:prstGeom prst="line">
              <a:avLst/>
            </a:prstGeom>
            <a:ln cap="rnd" w="39280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1983651" y="19640"/>
              <a:ext cx="0" cy="785605"/>
            </a:xfrm>
            <a:prstGeom prst="line">
              <a:avLst/>
            </a:prstGeom>
            <a:ln cap="rnd" w="39280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250" y="2133600"/>
            <a:ext cx="8306845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Windows 기능 목록에서 IIS(*인터넷 정보 서비스) 체크박스를 선택후 필요한 서비스를 설치합니다.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9250" y="1238250"/>
            <a:ext cx="762000" cy="66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2"/>
              </a:lnSpc>
              <a:spcBef>
                <a:spcPct val="0"/>
              </a:spcBef>
            </a:pPr>
            <a:r>
              <a:rPr lang="en-US" b="true" sz="5022" strike="noStrike" u="non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9250" y="1143000"/>
            <a:ext cx="762000" cy="762000"/>
            <a:chOff x="0" y="0"/>
            <a:chExt cx="1016000" cy="10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2545C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67000" y="1057275"/>
            <a:ext cx="5715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</a:t>
            </a:r>
            <a:r>
              <a:rPr lang="en-US" b="true" sz="42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단계: IIS 역할 추가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762500" y="4762500"/>
            <a:ext cx="1905000" cy="762000"/>
            <a:chOff x="0" y="0"/>
            <a:chExt cx="2540000" cy="10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38100" cap="sq">
              <a:solidFill>
                <a:srgbClr val="FF0000">
                  <a:alpha val="0"/>
                </a:srgbClr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19250" y="3211830"/>
            <a:ext cx="5884923" cy="6046470"/>
          </a:xfrm>
          <a:custGeom>
            <a:avLst/>
            <a:gdLst/>
            <a:ahLst/>
            <a:cxnLst/>
            <a:rect r="r" b="b" t="t" l="l"/>
            <a:pathLst>
              <a:path h="6046470" w="5884923">
                <a:moveTo>
                  <a:pt x="0" y="0"/>
                </a:moveTo>
                <a:lnTo>
                  <a:pt x="5884923" y="0"/>
                </a:lnTo>
                <a:lnTo>
                  <a:pt x="5884923" y="6046470"/>
                </a:lnTo>
                <a:lnTo>
                  <a:pt x="0" y="604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09663" y="3211830"/>
            <a:ext cx="5747973" cy="6046470"/>
          </a:xfrm>
          <a:custGeom>
            <a:avLst/>
            <a:gdLst/>
            <a:ahLst/>
            <a:cxnLst/>
            <a:rect r="r" b="b" t="t" l="l"/>
            <a:pathLst>
              <a:path h="6046470" w="5747973">
                <a:moveTo>
                  <a:pt x="0" y="0"/>
                </a:moveTo>
                <a:lnTo>
                  <a:pt x="5747973" y="0"/>
                </a:lnTo>
                <a:lnTo>
                  <a:pt x="5747973" y="6046470"/>
                </a:lnTo>
                <a:lnTo>
                  <a:pt x="0" y="604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000250" y="7802947"/>
            <a:ext cx="4458633" cy="347314"/>
            <a:chOff x="0" y="0"/>
            <a:chExt cx="5944843" cy="463085"/>
          </a:xfrm>
        </p:grpSpPr>
        <p:sp>
          <p:nvSpPr>
            <p:cNvPr name="AutoShape 12" id="12"/>
            <p:cNvSpPr/>
            <p:nvPr/>
          </p:nvSpPr>
          <p:spPr>
            <a:xfrm>
              <a:off x="22170" y="22170"/>
              <a:ext cx="5900503" cy="0"/>
            </a:xfrm>
            <a:prstGeom prst="line">
              <a:avLst/>
            </a:prstGeom>
            <a:ln cap="rnd" w="44341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22170" y="22170"/>
              <a:ext cx="0" cy="433932"/>
            </a:xfrm>
            <a:prstGeom prst="line">
              <a:avLst/>
            </a:prstGeom>
            <a:ln cap="rnd" w="44341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22170" y="440915"/>
              <a:ext cx="5900503" cy="0"/>
            </a:xfrm>
            <a:prstGeom prst="line">
              <a:avLst/>
            </a:prstGeom>
            <a:ln cap="rnd" w="44341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5922673" y="22170"/>
              <a:ext cx="0" cy="433932"/>
            </a:xfrm>
            <a:prstGeom prst="line">
              <a:avLst/>
            </a:prstGeom>
            <a:ln cap="rnd" w="44341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764404" y="6942811"/>
            <a:ext cx="5214392" cy="1207450"/>
            <a:chOff x="0" y="0"/>
            <a:chExt cx="6952522" cy="1609933"/>
          </a:xfrm>
        </p:grpSpPr>
        <p:sp>
          <p:nvSpPr>
            <p:cNvPr name="AutoShape 17" id="17"/>
            <p:cNvSpPr/>
            <p:nvPr/>
          </p:nvSpPr>
          <p:spPr>
            <a:xfrm>
              <a:off x="39267" y="39267"/>
              <a:ext cx="6873989" cy="0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39267" y="39267"/>
              <a:ext cx="0" cy="1570666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39267" y="1554960"/>
              <a:ext cx="6873989" cy="0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6913256" y="39267"/>
              <a:ext cx="0" cy="1570666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250" y="1238250"/>
            <a:ext cx="762000" cy="66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2"/>
              </a:lnSpc>
              <a:spcBef>
                <a:spcPct val="0"/>
              </a:spcBef>
            </a:pPr>
            <a:r>
              <a:rPr lang="en-US" b="true" sz="5022" strike="noStrike" u="non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9250" y="1143000"/>
            <a:ext cx="762000" cy="762000"/>
            <a:chOff x="0" y="0"/>
            <a:chExt cx="1016000" cy="10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2545C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19250" y="3221355"/>
            <a:ext cx="6448005" cy="6036945"/>
          </a:xfrm>
          <a:custGeom>
            <a:avLst/>
            <a:gdLst/>
            <a:ahLst/>
            <a:cxnLst/>
            <a:rect r="r" b="b" t="t" l="l"/>
            <a:pathLst>
              <a:path h="6036945" w="6448005">
                <a:moveTo>
                  <a:pt x="0" y="0"/>
                </a:moveTo>
                <a:lnTo>
                  <a:pt x="6448005" y="0"/>
                </a:lnTo>
                <a:lnTo>
                  <a:pt x="6448005" y="6036945"/>
                </a:lnTo>
                <a:lnTo>
                  <a:pt x="0" y="6036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19250" y="5143500"/>
            <a:ext cx="2926816" cy="3924300"/>
            <a:chOff x="0" y="0"/>
            <a:chExt cx="3305692" cy="443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05692" cy="4432300"/>
            </a:xfrm>
            <a:custGeom>
              <a:avLst/>
              <a:gdLst/>
              <a:ahLst/>
              <a:cxnLst/>
              <a:rect r="r" b="b" t="t" l="l"/>
              <a:pathLst>
                <a:path h="4432300" w="3305692">
                  <a:moveTo>
                    <a:pt x="0" y="0"/>
                  </a:moveTo>
                  <a:lnTo>
                    <a:pt x="3305692" y="0"/>
                  </a:lnTo>
                  <a:lnTo>
                    <a:pt x="3305692" y="4432300"/>
                  </a:lnTo>
                  <a:lnTo>
                    <a:pt x="0" y="4432300"/>
                  </a:lnTo>
                  <a:close/>
                </a:path>
              </a:pathLst>
            </a:custGeom>
            <a:solidFill>
              <a:srgbClr val="80808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382000" y="3622642"/>
            <a:ext cx="9389005" cy="5234370"/>
          </a:xfrm>
          <a:custGeom>
            <a:avLst/>
            <a:gdLst/>
            <a:ahLst/>
            <a:cxnLst/>
            <a:rect r="r" b="b" t="t" l="l"/>
            <a:pathLst>
              <a:path h="5234370" w="9389005">
                <a:moveTo>
                  <a:pt x="0" y="0"/>
                </a:moveTo>
                <a:lnTo>
                  <a:pt x="9389005" y="0"/>
                </a:lnTo>
                <a:lnTo>
                  <a:pt x="9389005" y="5234371"/>
                </a:lnTo>
                <a:lnTo>
                  <a:pt x="0" y="52343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19250" y="2133600"/>
            <a:ext cx="8235792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설치완료후 Windows 검색창에 IIS 입력하여 IIS 관리자로 접근합니다.</a:t>
            </a:r>
          </a:p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IIS 관리자에 접근후 기본사이트를 선택후 다음과 같이 설정합니다.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67000" y="1057275"/>
            <a:ext cx="5715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</a:t>
            </a:r>
            <a:r>
              <a:rPr lang="en-US" b="true" sz="42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단계: 웹 사이트 생성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546066" y="4922269"/>
            <a:ext cx="3410524" cy="789744"/>
            <a:chOff x="0" y="0"/>
            <a:chExt cx="4547365" cy="1052992"/>
          </a:xfrm>
        </p:grpSpPr>
        <p:sp>
          <p:nvSpPr>
            <p:cNvPr name="AutoShape 12" id="12"/>
            <p:cNvSpPr/>
            <p:nvPr/>
          </p:nvSpPr>
          <p:spPr>
            <a:xfrm>
              <a:off x="25683" y="25683"/>
              <a:ext cx="4496000" cy="0"/>
            </a:xfrm>
            <a:prstGeom prst="line">
              <a:avLst/>
            </a:prstGeom>
            <a:ln cap="rnd" w="51365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25683" y="25683"/>
              <a:ext cx="0" cy="1027310"/>
            </a:xfrm>
            <a:prstGeom prst="line">
              <a:avLst/>
            </a:prstGeom>
            <a:ln cap="rnd" w="51365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25683" y="1017037"/>
              <a:ext cx="4496000" cy="0"/>
            </a:xfrm>
            <a:prstGeom prst="line">
              <a:avLst/>
            </a:prstGeom>
            <a:ln cap="rnd" w="51365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4521682" y="25683"/>
              <a:ext cx="0" cy="1027310"/>
            </a:xfrm>
            <a:prstGeom prst="line">
              <a:avLst/>
            </a:prstGeom>
            <a:ln cap="rnd" w="51365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402943" y="5015175"/>
            <a:ext cx="1672615" cy="603933"/>
            <a:chOff x="0" y="0"/>
            <a:chExt cx="2230153" cy="805245"/>
          </a:xfrm>
        </p:grpSpPr>
        <p:sp>
          <p:nvSpPr>
            <p:cNvPr name="AutoShape 17" id="17"/>
            <p:cNvSpPr/>
            <p:nvPr/>
          </p:nvSpPr>
          <p:spPr>
            <a:xfrm>
              <a:off x="19640" y="19640"/>
              <a:ext cx="2190873" cy="0"/>
            </a:xfrm>
            <a:prstGeom prst="line">
              <a:avLst/>
            </a:prstGeom>
            <a:ln cap="rnd" w="39280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19640" y="19640"/>
              <a:ext cx="0" cy="785605"/>
            </a:xfrm>
            <a:prstGeom prst="line">
              <a:avLst/>
            </a:prstGeom>
            <a:ln cap="rnd" w="39280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9640" y="777749"/>
              <a:ext cx="2190873" cy="0"/>
            </a:xfrm>
            <a:prstGeom prst="line">
              <a:avLst/>
            </a:prstGeom>
            <a:ln cap="rnd" w="39280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2210513" y="19640"/>
              <a:ext cx="0" cy="785605"/>
            </a:xfrm>
            <a:prstGeom prst="line">
              <a:avLst/>
            </a:prstGeom>
            <a:ln cap="rnd" w="39280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250" y="1238250"/>
            <a:ext cx="762000" cy="66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2"/>
              </a:lnSpc>
              <a:spcBef>
                <a:spcPct val="0"/>
              </a:spcBef>
            </a:pPr>
            <a:r>
              <a:rPr lang="en-US" b="true" sz="5022" strike="noStrike" u="non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9250" y="1143000"/>
            <a:ext cx="762000" cy="762000"/>
            <a:chOff x="0" y="0"/>
            <a:chExt cx="1016000" cy="10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2545C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622958"/>
            <a:ext cx="8115300" cy="4696730"/>
          </a:xfrm>
          <a:custGeom>
            <a:avLst/>
            <a:gdLst/>
            <a:ahLst/>
            <a:cxnLst/>
            <a:rect r="r" b="b" t="t" l="l"/>
            <a:pathLst>
              <a:path h="4696730" w="8115300">
                <a:moveTo>
                  <a:pt x="0" y="0"/>
                </a:moveTo>
                <a:lnTo>
                  <a:pt x="8115300" y="0"/>
                </a:lnTo>
                <a:lnTo>
                  <a:pt x="8115300" y="4696729"/>
                </a:lnTo>
                <a:lnTo>
                  <a:pt x="0" y="4696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81482" y="3622958"/>
            <a:ext cx="8080395" cy="4696730"/>
          </a:xfrm>
          <a:custGeom>
            <a:avLst/>
            <a:gdLst/>
            <a:ahLst/>
            <a:cxnLst/>
            <a:rect r="r" b="b" t="t" l="l"/>
            <a:pathLst>
              <a:path h="4696730" w="8080395">
                <a:moveTo>
                  <a:pt x="0" y="0"/>
                </a:moveTo>
                <a:lnTo>
                  <a:pt x="8080395" y="0"/>
                </a:lnTo>
                <a:lnTo>
                  <a:pt x="8080395" y="4696729"/>
                </a:lnTo>
                <a:lnTo>
                  <a:pt x="0" y="4696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9250" y="1928812"/>
            <a:ext cx="7620000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사이트 선택후 포트번호 기본설정(80)</a:t>
            </a:r>
          </a:p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호스트 이름 바인딩</a:t>
            </a:r>
          </a:p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디렉터리 권한 구성을 완료합니다.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67000" y="1057275"/>
            <a:ext cx="5715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4</a:t>
            </a:r>
            <a:r>
              <a:rPr lang="en-US" b="true" sz="42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단계: 설정 구성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17540" y="4546985"/>
            <a:ext cx="1351575" cy="348399"/>
            <a:chOff x="0" y="0"/>
            <a:chExt cx="1802101" cy="464532"/>
          </a:xfrm>
        </p:grpSpPr>
        <p:sp>
          <p:nvSpPr>
            <p:cNvPr name="AutoShape 10" id="10"/>
            <p:cNvSpPr/>
            <p:nvPr/>
          </p:nvSpPr>
          <p:spPr>
            <a:xfrm>
              <a:off x="32604" y="32604"/>
              <a:ext cx="1736892" cy="0"/>
            </a:xfrm>
            <a:prstGeom prst="line">
              <a:avLst/>
            </a:prstGeom>
            <a:ln cap="rnd" w="65208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2604" y="32604"/>
              <a:ext cx="0" cy="413807"/>
            </a:xfrm>
            <a:prstGeom prst="line">
              <a:avLst/>
            </a:prstGeom>
            <a:ln cap="rnd" w="65208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32604" y="431928"/>
              <a:ext cx="1736892" cy="0"/>
            </a:xfrm>
            <a:prstGeom prst="line">
              <a:avLst/>
            </a:prstGeom>
            <a:ln cap="rnd" w="65208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1769496" y="32604"/>
              <a:ext cx="0" cy="413807"/>
            </a:xfrm>
            <a:prstGeom prst="line">
              <a:avLst/>
            </a:prstGeom>
            <a:ln cap="rnd" w="65208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730704" y="4106984"/>
            <a:ext cx="5214392" cy="791288"/>
            <a:chOff x="0" y="0"/>
            <a:chExt cx="6952522" cy="1055050"/>
          </a:xfrm>
        </p:grpSpPr>
        <p:sp>
          <p:nvSpPr>
            <p:cNvPr name="AutoShape 15" id="15"/>
            <p:cNvSpPr/>
            <p:nvPr/>
          </p:nvSpPr>
          <p:spPr>
            <a:xfrm>
              <a:off x="39267" y="39267"/>
              <a:ext cx="6873989" cy="0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39267" y="39267"/>
              <a:ext cx="0" cy="1011934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39267" y="1015783"/>
              <a:ext cx="6873989" cy="0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6913256" y="39267"/>
              <a:ext cx="0" cy="1011934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250" y="2133600"/>
            <a:ext cx="762000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브라우저에서 http://localhost 입력하여</a:t>
            </a:r>
          </a:p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IIS 시작페이지 확인 및 정상 동작 여부를 점검합니다.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9250" y="1238250"/>
            <a:ext cx="762000" cy="66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2"/>
              </a:lnSpc>
              <a:spcBef>
                <a:spcPct val="0"/>
              </a:spcBef>
            </a:pPr>
            <a:r>
              <a:rPr lang="en-US" b="true" sz="5022" strike="noStrike" u="non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9250" y="1143000"/>
            <a:ext cx="762000" cy="762000"/>
            <a:chOff x="0" y="0"/>
            <a:chExt cx="1016000" cy="10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2545C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67000" y="1057275"/>
            <a:ext cx="5715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5단계: 접속 확인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9250" y="4183889"/>
            <a:ext cx="6548906" cy="1919221"/>
          </a:xfrm>
          <a:custGeom>
            <a:avLst/>
            <a:gdLst/>
            <a:ahLst/>
            <a:cxnLst/>
            <a:rect r="r" b="b" t="t" l="l"/>
            <a:pathLst>
              <a:path h="1919221" w="6548906">
                <a:moveTo>
                  <a:pt x="0" y="0"/>
                </a:moveTo>
                <a:lnTo>
                  <a:pt x="6548906" y="0"/>
                </a:lnTo>
                <a:lnTo>
                  <a:pt x="6548906" y="1919222"/>
                </a:lnTo>
                <a:lnTo>
                  <a:pt x="0" y="1919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6" t="0" r="-6235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73225" y="3421380"/>
            <a:ext cx="9352269" cy="5541845"/>
          </a:xfrm>
          <a:custGeom>
            <a:avLst/>
            <a:gdLst/>
            <a:ahLst/>
            <a:cxnLst/>
            <a:rect r="r" b="b" t="t" l="l"/>
            <a:pathLst>
              <a:path h="5541845" w="9352269">
                <a:moveTo>
                  <a:pt x="0" y="0"/>
                </a:moveTo>
                <a:lnTo>
                  <a:pt x="9352269" y="0"/>
                </a:lnTo>
                <a:lnTo>
                  <a:pt x="9352269" y="5541845"/>
                </a:lnTo>
                <a:lnTo>
                  <a:pt x="0" y="5541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t="0" r="-5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98784" y="4159426"/>
            <a:ext cx="1631694" cy="397312"/>
            <a:chOff x="0" y="0"/>
            <a:chExt cx="2175593" cy="529749"/>
          </a:xfrm>
        </p:grpSpPr>
        <p:sp>
          <p:nvSpPr>
            <p:cNvPr name="AutoShape 10" id="10"/>
            <p:cNvSpPr/>
            <p:nvPr/>
          </p:nvSpPr>
          <p:spPr>
            <a:xfrm>
              <a:off x="39267" y="39267"/>
              <a:ext cx="2097059" cy="0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9267" y="39267"/>
              <a:ext cx="0" cy="467581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39267" y="490483"/>
              <a:ext cx="2097059" cy="0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2136326" y="39267"/>
              <a:ext cx="0" cy="467581"/>
            </a:xfrm>
            <a:prstGeom prst="line">
              <a:avLst/>
            </a:prstGeom>
            <a:ln cap="rnd" w="78533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250" y="1143000"/>
            <a:ext cx="762000" cy="762000"/>
            <a:chOff x="0" y="0"/>
            <a:chExt cx="1016000" cy="10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2545C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3619500"/>
            <a:ext cx="7705145" cy="4565298"/>
          </a:xfrm>
          <a:custGeom>
            <a:avLst/>
            <a:gdLst/>
            <a:ahLst/>
            <a:cxnLst/>
            <a:rect r="r" b="b" t="t" l="l"/>
            <a:pathLst>
              <a:path h="4565298" w="7705145">
                <a:moveTo>
                  <a:pt x="0" y="0"/>
                </a:moveTo>
                <a:lnTo>
                  <a:pt x="7705145" y="0"/>
                </a:lnTo>
                <a:lnTo>
                  <a:pt x="7705145" y="4565298"/>
                </a:lnTo>
                <a:lnTo>
                  <a:pt x="0" y="456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27426" y="3619500"/>
            <a:ext cx="8116086" cy="4565298"/>
          </a:xfrm>
          <a:custGeom>
            <a:avLst/>
            <a:gdLst/>
            <a:ahLst/>
            <a:cxnLst/>
            <a:rect r="r" b="b" t="t" l="l"/>
            <a:pathLst>
              <a:path h="4565298" w="8116086">
                <a:moveTo>
                  <a:pt x="0" y="0"/>
                </a:moveTo>
                <a:lnTo>
                  <a:pt x="8116086" y="0"/>
                </a:lnTo>
                <a:lnTo>
                  <a:pt x="8116086" y="4565298"/>
                </a:lnTo>
                <a:lnTo>
                  <a:pt x="0" y="456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9250" y="1238250"/>
            <a:ext cx="762000" cy="66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2"/>
              </a:lnSpc>
              <a:spcBef>
                <a:spcPct val="0"/>
              </a:spcBef>
            </a:pPr>
            <a:r>
              <a:rPr lang="en-US" b="true" sz="5022" strike="noStrike" u="non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+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71750" y="1152525"/>
            <a:ext cx="76200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7"/>
              </a:lnSpc>
              <a:spcBef>
                <a:spcPct val="0"/>
              </a:spcBef>
            </a:pPr>
            <a:r>
              <a:rPr lang="en-US" b="true" sz="4247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추가단계: 사이트 제작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250" y="2133600"/>
            <a:ext cx="857250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사이트를 제작하고 싶은 경우, VSCode Community 프로그램,</a:t>
            </a:r>
          </a:p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76767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ASP.NET를 통하여 웹사이트를 제작할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54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6500" y="4000500"/>
            <a:ext cx="1333500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72"/>
              </a:lnSpc>
              <a:spcBef>
                <a:spcPct val="0"/>
              </a:spcBef>
            </a:pPr>
            <a:r>
              <a:rPr lang="en-US" sz="756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부산 맛집, 어디서 찾으세요?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4000" y="5534025"/>
            <a:ext cx="7620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>
                    <a:alpha val="6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부산로컬플레이스 소개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250" y="2416474"/>
            <a:ext cx="14287500" cy="7436168"/>
            <a:chOff x="0" y="0"/>
            <a:chExt cx="19050000" cy="99148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995410"/>
              <a:ext cx="19050000" cy="919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44444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B.</a:t>
              </a:r>
              <a:r>
                <a:rPr lang="en-US" sz="18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18–30세 여행 애호가 | 숏폼으로 정보 소비</a:t>
              </a:r>
            </a:p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   숏폼 시청 → 웹에서 코스 상세 확인 → SNS 공유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8017510"/>
              <a:ext cx="19050000" cy="919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44444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A.</a:t>
              </a:r>
              <a:r>
                <a:rPr lang="en-US" sz="18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25–34세 직장인 | 주말 데이트·외식 정보 탐색</a:t>
              </a:r>
            </a:p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    검색 → 심층 리뷰 확인 → 숏폼으로 분위기 확인 → 예약 링크 클릭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7436485"/>
              <a:ext cx="76200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545C3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타깃 페르소나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183505"/>
              <a:ext cx="19050000" cy="154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• 웹사이트 월간 순방문자 50,000명 달성</a:t>
              </a:r>
            </a:p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• 유튜브 구독자 30,000명 확보(6개월)</a:t>
              </a:r>
            </a:p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• 지역 상권과 협업 가능한 신뢰형 미디어로 자리매김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564380"/>
              <a:ext cx="76200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545C3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핵심 목표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836333"/>
              <a:ext cx="19050000" cy="1007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• 부산 관련 정보가 분산되어 있어 사용자가 신뢰할 만한 최신 리뷰와 영상으로 빠르게 의사결정하기 어렵다.</a:t>
              </a:r>
            </a:p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• 숏폼 중심 소비 트렌드에 맞춘 시각적 콘텐츠가 부족해 검색 유입을 영상 구독으로 전환하기 어렵다.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255308"/>
              <a:ext cx="76200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545C3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문제 정의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33400"/>
              <a:ext cx="19050000" cy="1007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부산을 찾는 여행자와 지역 주민에게 신뢰할 수 있는 맛집·여행 정보를 제공해</a:t>
              </a:r>
            </a:p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444444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웹과 유튜브를 통한 지역 콘텐츠 허브가 된다.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6200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545C3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한 줄 비전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19250" y="971550"/>
            <a:ext cx="66675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72"/>
              </a:lnSpc>
              <a:spcBef>
                <a:spcPct val="0"/>
              </a:spcBef>
            </a:pPr>
            <a:r>
              <a:rPr lang="en-US" b="true" sz="631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개요 및 목표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250" y="971550"/>
            <a:ext cx="66675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72"/>
              </a:lnSpc>
              <a:spcBef>
                <a:spcPct val="0"/>
              </a:spcBef>
            </a:pPr>
            <a:r>
              <a:rPr lang="en-US" b="true" sz="631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성공지표 KPI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9250" y="2154555"/>
            <a:ext cx="790575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9"/>
              </a:lnSpc>
              <a:spcBef>
                <a:spcPct val="0"/>
              </a:spcBef>
            </a:pPr>
            <a:r>
              <a:rPr lang="en-US" sz="4299" strike="noStrike" u="none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목표 달성을 측정하는 핵심 지표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28750" y="3305175"/>
            <a:ext cx="16192500" cy="4000500"/>
            <a:chOff x="0" y="0"/>
            <a:chExt cx="21590000" cy="533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1590000" cy="889000"/>
              <a:chOff x="0" y="0"/>
              <a:chExt cx="21590000" cy="889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590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889000"/>
                    </a:lnTo>
                    <a:lnTo>
                      <a:pt x="0" y="889000"/>
                    </a:lnTo>
                    <a:close/>
                  </a:path>
                </a:pathLst>
              </a:custGeom>
              <a:solidFill>
                <a:srgbClr val="2545C3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81000" y="215900"/>
              <a:ext cx="5080000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 strike="noStrike" u="none">
                  <a:solidFill>
                    <a:srgbClr val="FFFFFF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지표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096000" y="215900"/>
              <a:ext cx="4445000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 strike="noStrike" u="none">
                  <a:solidFill>
                    <a:srgbClr val="FFFFFF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목표값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1176000" y="215900"/>
              <a:ext cx="4445000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 strike="noStrike" u="none">
                  <a:solidFill>
                    <a:srgbClr val="FFFFFF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측정방법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0" y="889000"/>
              <a:ext cx="21590000" cy="889000"/>
              <a:chOff x="0" y="0"/>
              <a:chExt cx="21590000" cy="889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590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889000"/>
                    </a:lnTo>
                    <a:lnTo>
                      <a:pt x="0" y="889000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1130300"/>
              <a:ext cx="5080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22222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월간 순방문자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096000" y="1130300"/>
              <a:ext cx="4445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22222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50,000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1176000" y="1130300"/>
              <a:ext cx="5080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737373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Google Analytics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81000" y="2019300"/>
              <a:ext cx="5080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22222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유튜브 구독자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096000" y="2019300"/>
              <a:ext cx="4445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22222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30,000 (6개월)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176000" y="2019300"/>
              <a:ext cx="5080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737373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YouTube Analytics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2667000"/>
              <a:ext cx="21590000" cy="889000"/>
              <a:chOff x="0" y="0"/>
              <a:chExt cx="21590000" cy="889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590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889000"/>
                    </a:lnTo>
                    <a:lnTo>
                      <a:pt x="0" y="889000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1000" y="2908300"/>
              <a:ext cx="5080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22222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페이지 평균 체류시간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096000" y="2908300"/>
              <a:ext cx="4445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22222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≥ 2분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1176000" y="2908300"/>
              <a:ext cx="5080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737373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Google Analytics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3797300"/>
              <a:ext cx="5080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22222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콘텐츠 전환율 (글→구독)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096000" y="3797300"/>
              <a:ext cx="4445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22222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≥ 3%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176000" y="3797300"/>
              <a:ext cx="5080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737373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UTM 트래킹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4445000"/>
              <a:ext cx="21590000" cy="889000"/>
              <a:chOff x="0" y="0"/>
              <a:chExt cx="21590000" cy="889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590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889000"/>
                    </a:lnTo>
                    <a:lnTo>
                      <a:pt x="0" y="889000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381000" y="4686300"/>
              <a:ext cx="5080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22222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SNS 공유 수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096000" y="4686300"/>
              <a:ext cx="4445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22222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게시물당 ≥ 50회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1176000" y="4686300"/>
              <a:ext cx="508000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737373"/>
                  </a:solidFill>
                  <a:latin typeface="Source Han Sans KR"/>
                  <a:ea typeface="Source Han Sans KR"/>
                  <a:cs typeface="Source Han Sans KR"/>
                  <a:sym typeface="Source Han Sans KR"/>
                </a:rPr>
                <a:t>소셜 리포트 / UTM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91416" y="4204666"/>
            <a:ext cx="1877668" cy="1877668"/>
          </a:xfrm>
          <a:custGeom>
            <a:avLst/>
            <a:gdLst/>
            <a:ahLst/>
            <a:cxnLst/>
            <a:rect r="r" b="b" t="t" l="l"/>
            <a:pathLst>
              <a:path h="1877668" w="1877668">
                <a:moveTo>
                  <a:pt x="0" y="0"/>
                </a:moveTo>
                <a:lnTo>
                  <a:pt x="1877668" y="0"/>
                </a:lnTo>
                <a:lnTo>
                  <a:pt x="1877668" y="1877668"/>
                </a:lnTo>
                <a:lnTo>
                  <a:pt x="0" y="1877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23339" y="4394089"/>
            <a:ext cx="1498823" cy="1498823"/>
          </a:xfrm>
          <a:custGeom>
            <a:avLst/>
            <a:gdLst/>
            <a:ahLst/>
            <a:cxnLst/>
            <a:rect r="r" b="b" t="t" l="l"/>
            <a:pathLst>
              <a:path h="1498823" w="1498823">
                <a:moveTo>
                  <a:pt x="0" y="0"/>
                </a:moveTo>
                <a:lnTo>
                  <a:pt x="1498822" y="0"/>
                </a:lnTo>
                <a:lnTo>
                  <a:pt x="1498822" y="1498822"/>
                </a:lnTo>
                <a:lnTo>
                  <a:pt x="0" y="1498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25047" y="4394089"/>
            <a:ext cx="1688245" cy="1688245"/>
          </a:xfrm>
          <a:custGeom>
            <a:avLst/>
            <a:gdLst/>
            <a:ahLst/>
            <a:cxnLst/>
            <a:rect r="r" b="b" t="t" l="l"/>
            <a:pathLst>
              <a:path h="1688245" w="1688245">
                <a:moveTo>
                  <a:pt x="0" y="0"/>
                </a:moveTo>
                <a:lnTo>
                  <a:pt x="1688245" y="0"/>
                </a:lnTo>
                <a:lnTo>
                  <a:pt x="1688245" y="1688245"/>
                </a:lnTo>
                <a:lnTo>
                  <a:pt x="0" y="16882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61612" y="4347208"/>
            <a:ext cx="1735126" cy="1735126"/>
          </a:xfrm>
          <a:custGeom>
            <a:avLst/>
            <a:gdLst/>
            <a:ahLst/>
            <a:cxnLst/>
            <a:rect r="r" b="b" t="t" l="l"/>
            <a:pathLst>
              <a:path h="1735126" w="1735126">
                <a:moveTo>
                  <a:pt x="0" y="0"/>
                </a:moveTo>
                <a:lnTo>
                  <a:pt x="1735126" y="0"/>
                </a:lnTo>
                <a:lnTo>
                  <a:pt x="1735126" y="1735126"/>
                </a:lnTo>
                <a:lnTo>
                  <a:pt x="0" y="1735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9250" y="962025"/>
            <a:ext cx="66675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2"/>
              </a:lnSpc>
              <a:spcBef>
                <a:spcPct val="0"/>
              </a:spcBef>
            </a:pPr>
            <a:r>
              <a:rPr lang="en-US" b="true" sz="7935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사용한 도구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250" y="2343150"/>
            <a:ext cx="641985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9"/>
              </a:lnSpc>
              <a:spcBef>
                <a:spcPct val="0"/>
              </a:spcBef>
            </a:pPr>
            <a:r>
              <a:rPr lang="en-US" sz="4299" strike="noStrike" u="none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개발에 활용한 주요 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67125" y="6286500"/>
            <a:ext cx="2381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24625" y="6286500"/>
            <a:ext cx="2381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Visual Studio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82125" y="6286500"/>
            <a:ext cx="2381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39625" y="6286500"/>
            <a:ext cx="2381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Discord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8144">
            <a:off x="1621447" y="963797"/>
            <a:ext cx="692724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65"/>
              </a:lnSpc>
            </a:pPr>
            <a:r>
              <a:rPr lang="en-US" b="true" sz="4471" spc="-138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부산 로컬 플레이스 소개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711" y="2350311"/>
            <a:ext cx="6413344" cy="73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8"/>
              </a:lnSpc>
            </a:pPr>
            <a:r>
              <a:rPr lang="en-US" sz="4089" spc="-167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Project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6088" y="4311531"/>
            <a:ext cx="2691029" cy="1323682"/>
            <a:chOff x="0" y="0"/>
            <a:chExt cx="3588039" cy="176490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588039" cy="1764909"/>
              <a:chOff x="0" y="0"/>
              <a:chExt cx="635000" cy="31234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" cy="312348"/>
              </a:xfrm>
              <a:custGeom>
                <a:avLst/>
                <a:gdLst/>
                <a:ahLst/>
                <a:cxnLst/>
                <a:rect r="r" b="b" t="t" l="l"/>
                <a:pathLst>
                  <a:path h="312348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12348"/>
                    </a:lnTo>
                    <a:lnTo>
                      <a:pt x="0" y="312348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635000" cy="3218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85729" y="614588"/>
              <a:ext cx="3016581" cy="602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05"/>
                </a:lnSpc>
              </a:pPr>
              <a:r>
                <a:rPr lang="en-US" b="true" sz="3338" spc="-203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프로젝트 목표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26799" y="4311531"/>
            <a:ext cx="12069863" cy="1347257"/>
            <a:chOff x="0" y="0"/>
            <a:chExt cx="2848116" cy="317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16088" y="6049314"/>
            <a:ext cx="2691029" cy="1323682"/>
            <a:chOff x="0" y="0"/>
            <a:chExt cx="3588039" cy="176490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588039" cy="1764909"/>
              <a:chOff x="0" y="0"/>
              <a:chExt cx="635000" cy="31234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" cy="312348"/>
              </a:xfrm>
              <a:custGeom>
                <a:avLst/>
                <a:gdLst/>
                <a:ahLst/>
                <a:cxnLst/>
                <a:rect r="r" b="b" t="t" l="l"/>
                <a:pathLst>
                  <a:path h="312348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12348"/>
                    </a:lnTo>
                    <a:lnTo>
                      <a:pt x="0" y="312348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635000" cy="3218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85729" y="614588"/>
              <a:ext cx="3016581" cy="602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05"/>
                </a:lnSpc>
              </a:pPr>
              <a:r>
                <a:rPr lang="en-US" b="true" sz="3338" spc="-203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핵심 기능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26799" y="6049314"/>
            <a:ext cx="12069863" cy="1347257"/>
            <a:chOff x="0" y="0"/>
            <a:chExt cx="2848116" cy="3179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16088" y="7808417"/>
            <a:ext cx="2691029" cy="1323682"/>
            <a:chOff x="0" y="0"/>
            <a:chExt cx="3588039" cy="176490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588039" cy="1764909"/>
              <a:chOff x="0" y="0"/>
              <a:chExt cx="635000" cy="31234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" cy="312348"/>
              </a:xfrm>
              <a:custGeom>
                <a:avLst/>
                <a:gdLst/>
                <a:ahLst/>
                <a:cxnLst/>
                <a:rect r="r" b="b" t="t" l="l"/>
                <a:pathLst>
                  <a:path h="312348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12348"/>
                    </a:lnTo>
                    <a:lnTo>
                      <a:pt x="0" y="312348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635000" cy="3218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85729" y="614588"/>
              <a:ext cx="3016581" cy="602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05"/>
                </a:lnSpc>
              </a:pPr>
              <a:r>
                <a:rPr lang="en-US" b="true" sz="3338" spc="-203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기대 효과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26799" y="7808417"/>
            <a:ext cx="12069863" cy="1347257"/>
            <a:chOff x="0" y="0"/>
            <a:chExt cx="2848116" cy="317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025652" y="4656547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부산 지역 관광 정보를 통합 제공하는 웹사이트 구축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25652" y="6394329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이벤트 관리, 날씨/명소 API 연동, 리뷰 시스템 구현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25652" y="8153433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지역 관광 활성화 및 사용자 편의성 향상 도모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8144">
            <a:off x="1621433" y="958489"/>
            <a:ext cx="893857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65"/>
              </a:lnSpc>
            </a:pPr>
            <a:r>
              <a:rPr lang="en-US" b="true" sz="4471" spc="-138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핵심 기능 1 - Todo(이벤트 처리) 개요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711" y="2350311"/>
            <a:ext cx="6413344" cy="71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2"/>
              </a:lnSpc>
            </a:pPr>
            <a:r>
              <a:rPr lang="en-US" sz="3910" spc="-160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Event Handling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6088" y="4311531"/>
            <a:ext cx="2691029" cy="1300181"/>
            <a:chOff x="0" y="0"/>
            <a:chExt cx="3588039" cy="173357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588039" cy="1733575"/>
              <a:chOff x="0" y="0"/>
              <a:chExt cx="635000" cy="3068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" cy="306803"/>
              </a:xfrm>
              <a:custGeom>
                <a:avLst/>
                <a:gdLst/>
                <a:ahLst/>
                <a:cxnLst/>
                <a:rect r="r" b="b" t="t" l="l"/>
                <a:pathLst>
                  <a:path h="306803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06803"/>
                    </a:lnTo>
                    <a:lnTo>
                      <a:pt x="0" y="306803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635000" cy="3163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85729" y="633638"/>
              <a:ext cx="3016581" cy="552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64"/>
                </a:lnSpc>
              </a:pPr>
              <a:r>
                <a:rPr lang="en-US" b="true" sz="3192" spc="-194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이벤트 CRUD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26799" y="4311531"/>
            <a:ext cx="12069863" cy="1347257"/>
            <a:chOff x="0" y="0"/>
            <a:chExt cx="2848116" cy="317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26799" y="6049314"/>
            <a:ext cx="12069863" cy="1347257"/>
            <a:chOff x="0" y="0"/>
            <a:chExt cx="2848116" cy="3179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16088" y="7808417"/>
            <a:ext cx="2691029" cy="1300181"/>
            <a:chOff x="0" y="0"/>
            <a:chExt cx="3588039" cy="173357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588039" cy="1733575"/>
              <a:chOff x="0" y="0"/>
              <a:chExt cx="635000" cy="30680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" cy="306803"/>
              </a:xfrm>
              <a:custGeom>
                <a:avLst/>
                <a:gdLst/>
                <a:ahLst/>
                <a:cxnLst/>
                <a:rect r="r" b="b" t="t" l="l"/>
                <a:pathLst>
                  <a:path h="306803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06803"/>
                    </a:lnTo>
                    <a:lnTo>
                      <a:pt x="0" y="306803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635000" cy="3163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85729" y="633638"/>
              <a:ext cx="3016581" cy="552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64"/>
                </a:lnSpc>
              </a:pPr>
              <a:r>
                <a:rPr lang="en-US" b="true" sz="3192" spc="-194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UI 흐름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526799" y="7808417"/>
            <a:ext cx="12069863" cy="1347257"/>
            <a:chOff x="0" y="0"/>
            <a:chExt cx="2848116" cy="3179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025652" y="4656547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이벤트(저장목록) 생성,읽기, 수정, 삭제 기능을 통한 CRUD 동작 구현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25652" y="6394329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사용자 동의 기반 쿠키 저장 및 허용/차단 기능 구현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25652" y="8153433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직관적인 UI와 사용자 친화적 기능 흐름 설계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616088" y="6049314"/>
            <a:ext cx="2691029" cy="1300181"/>
            <a:chOff x="0" y="0"/>
            <a:chExt cx="3588039" cy="173357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588039" cy="1733575"/>
              <a:chOff x="0" y="0"/>
              <a:chExt cx="635000" cy="30680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35000" cy="306803"/>
              </a:xfrm>
              <a:custGeom>
                <a:avLst/>
                <a:gdLst/>
                <a:ahLst/>
                <a:cxnLst/>
                <a:rect r="r" b="b" t="t" l="l"/>
                <a:pathLst>
                  <a:path h="306803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06803"/>
                    </a:lnTo>
                    <a:lnTo>
                      <a:pt x="0" y="306803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9525"/>
                <a:ext cx="635000" cy="3163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85729" y="633638"/>
              <a:ext cx="3016581" cy="552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64"/>
                </a:lnSpc>
              </a:pPr>
              <a:r>
                <a:rPr lang="en-US" b="true" sz="3192" spc="-194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쿠키관리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530458" y="5796782"/>
            <a:ext cx="1553773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-18144">
            <a:off x="1622080" y="955645"/>
            <a:ext cx="640619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4"/>
              </a:lnSpc>
            </a:pPr>
            <a:r>
              <a:rPr lang="en-US" b="true" sz="6120" spc="-189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Todo 기능 구현 세부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711" y="2378886"/>
            <a:ext cx="6413344" cy="53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3"/>
              </a:lnSpc>
            </a:pPr>
            <a:r>
              <a:rPr lang="en-US" sz="2904" spc="-119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ASP.NET 기반 이벤트 처리 핵심 코드 및 로직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0958" y="6143725"/>
            <a:ext cx="2876550" cy="3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0"/>
              </a:lnSpc>
              <a:spcBef>
                <a:spcPct val="0"/>
              </a:spcBef>
            </a:pPr>
            <a:r>
              <a:rPr lang="en-US" b="true" sz="1836" spc="-5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폼 입력 처리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0958" y="6830930"/>
            <a:ext cx="2876550" cy="4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사용자 입력 데이터를</a:t>
            </a:r>
          </a:p>
          <a:p>
            <a:pPr algn="ctr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수집합니다.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5029" y="7715168"/>
            <a:ext cx="2895600" cy="70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HTML 폼 요소 구성</a:t>
            </a:r>
          </a:p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ASP.NET 컨트롤 바인딩</a:t>
            </a:r>
          </a:p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입력 필드 유효성 검사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50958" y="4237261"/>
            <a:ext cx="2876550" cy="1174479"/>
            <a:chOff x="0" y="0"/>
            <a:chExt cx="568207" cy="2319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207" cy="231996"/>
            </a:xfrm>
            <a:custGeom>
              <a:avLst/>
              <a:gdLst/>
              <a:ahLst/>
              <a:cxnLst/>
              <a:rect r="r" b="b" t="t" l="l"/>
              <a:pathLst>
                <a:path h="231996" w="568207">
                  <a:moveTo>
                    <a:pt x="0" y="0"/>
                  </a:moveTo>
                  <a:lnTo>
                    <a:pt x="357132" y="0"/>
                  </a:lnTo>
                  <a:cubicBezTo>
                    <a:pt x="473276" y="0"/>
                    <a:pt x="568207" y="51934"/>
                    <a:pt x="568207" y="115998"/>
                  </a:cubicBezTo>
                  <a:cubicBezTo>
                    <a:pt x="568207" y="180062"/>
                    <a:pt x="473276" y="231996"/>
                    <a:pt x="357132" y="231996"/>
                  </a:cubicBezTo>
                  <a:lnTo>
                    <a:pt x="0" y="23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5400" y="-38100"/>
              <a:ext cx="339607" cy="27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10188" y="4529225"/>
            <a:ext cx="758089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4"/>
              </a:lnSpc>
            </a:pPr>
            <a:r>
              <a:rPr lang="en-US" b="true" sz="3400" spc="-20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42612" y="6143725"/>
            <a:ext cx="2876550" cy="3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0"/>
              </a:lnSpc>
              <a:spcBef>
                <a:spcPct val="0"/>
              </a:spcBef>
            </a:pPr>
            <a:r>
              <a:rPr lang="en-US" b="true" sz="1836" spc="-5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서버 요청 전송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42612" y="6830930"/>
            <a:ext cx="2876550" cy="4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클라이언트에서 서버로</a:t>
            </a:r>
          </a:p>
          <a:p>
            <a:pPr algn="ctr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데이터를 전송합니다.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16684" y="7715168"/>
            <a:ext cx="2895600" cy="70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POST 메서드 활용</a:t>
            </a:r>
          </a:p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Request 객체 처리</a:t>
            </a:r>
          </a:p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Form Data 파싱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542612" y="4237261"/>
            <a:ext cx="2876550" cy="1174479"/>
            <a:chOff x="0" y="0"/>
            <a:chExt cx="568207" cy="2319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8207" cy="231996"/>
            </a:xfrm>
            <a:custGeom>
              <a:avLst/>
              <a:gdLst/>
              <a:ahLst/>
              <a:cxnLst/>
              <a:rect r="r" b="b" t="t" l="l"/>
              <a:pathLst>
                <a:path h="231996" w="568207">
                  <a:moveTo>
                    <a:pt x="0" y="0"/>
                  </a:moveTo>
                  <a:lnTo>
                    <a:pt x="357132" y="0"/>
                  </a:lnTo>
                  <a:cubicBezTo>
                    <a:pt x="473276" y="0"/>
                    <a:pt x="568207" y="51934"/>
                    <a:pt x="568207" y="115998"/>
                  </a:cubicBezTo>
                  <a:cubicBezTo>
                    <a:pt x="568207" y="180062"/>
                    <a:pt x="473276" y="231996"/>
                    <a:pt x="357132" y="231996"/>
                  </a:cubicBezTo>
                  <a:lnTo>
                    <a:pt x="0" y="23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5400" y="-38100"/>
              <a:ext cx="339607" cy="27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601842" y="4529225"/>
            <a:ext cx="758089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4"/>
              </a:lnSpc>
            </a:pPr>
            <a:r>
              <a:rPr lang="en-US" b="true" sz="3400" spc="-20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34266" y="6143725"/>
            <a:ext cx="2876550" cy="3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0"/>
              </a:lnSpc>
              <a:spcBef>
                <a:spcPct val="0"/>
              </a:spcBef>
            </a:pPr>
            <a:r>
              <a:rPr lang="en-US" b="true" sz="1836" spc="-5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 검증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34266" y="6830930"/>
            <a:ext cx="2876550" cy="4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서버 측에서 입력값을</a:t>
            </a:r>
          </a:p>
          <a:p>
            <a:pPr algn="ctr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검증합니다.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08338" y="7715168"/>
            <a:ext cx="3117582" cy="70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필수 필드 확인</a:t>
            </a:r>
          </a:p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데이터 타입 검증</a:t>
            </a:r>
          </a:p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SQL Injection 방지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734266" y="4237261"/>
            <a:ext cx="2876550" cy="1174479"/>
            <a:chOff x="0" y="0"/>
            <a:chExt cx="568207" cy="2319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8207" cy="231996"/>
            </a:xfrm>
            <a:custGeom>
              <a:avLst/>
              <a:gdLst/>
              <a:ahLst/>
              <a:cxnLst/>
              <a:rect r="r" b="b" t="t" l="l"/>
              <a:pathLst>
                <a:path h="231996" w="568207">
                  <a:moveTo>
                    <a:pt x="0" y="0"/>
                  </a:moveTo>
                  <a:lnTo>
                    <a:pt x="357132" y="0"/>
                  </a:lnTo>
                  <a:cubicBezTo>
                    <a:pt x="473276" y="0"/>
                    <a:pt x="568207" y="51934"/>
                    <a:pt x="568207" y="115998"/>
                  </a:cubicBezTo>
                  <a:cubicBezTo>
                    <a:pt x="568207" y="180062"/>
                    <a:pt x="473276" y="231996"/>
                    <a:pt x="357132" y="231996"/>
                  </a:cubicBezTo>
                  <a:lnTo>
                    <a:pt x="0" y="23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25400" y="-38100"/>
              <a:ext cx="339607" cy="27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793496" y="4529225"/>
            <a:ext cx="758089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4"/>
              </a:lnSpc>
            </a:pPr>
            <a:r>
              <a:rPr lang="en-US" b="true" sz="3400" spc="-20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25920" y="6143725"/>
            <a:ext cx="2876550" cy="3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0"/>
              </a:lnSpc>
              <a:spcBef>
                <a:spcPct val="0"/>
              </a:spcBef>
            </a:pPr>
            <a:r>
              <a:rPr lang="en-US" b="true" sz="1836" spc="-5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저장 처리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25920" y="6830930"/>
            <a:ext cx="2876550" cy="4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검증된 데이터를 DB에</a:t>
            </a:r>
          </a:p>
          <a:p>
            <a:pPr algn="ctr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저장합니다.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99992" y="7715168"/>
            <a:ext cx="2895600" cy="70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SqlCommand 실행</a:t>
            </a:r>
          </a:p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매개변수화 쿼리 사용</a:t>
            </a:r>
          </a:p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트랜잭션 처리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925920" y="4237261"/>
            <a:ext cx="2876550" cy="1174479"/>
            <a:chOff x="0" y="0"/>
            <a:chExt cx="568207" cy="2319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8207" cy="231996"/>
            </a:xfrm>
            <a:custGeom>
              <a:avLst/>
              <a:gdLst/>
              <a:ahLst/>
              <a:cxnLst/>
              <a:rect r="r" b="b" t="t" l="l"/>
              <a:pathLst>
                <a:path h="231996" w="568207">
                  <a:moveTo>
                    <a:pt x="0" y="0"/>
                  </a:moveTo>
                  <a:lnTo>
                    <a:pt x="357132" y="0"/>
                  </a:lnTo>
                  <a:cubicBezTo>
                    <a:pt x="473276" y="0"/>
                    <a:pt x="568207" y="51934"/>
                    <a:pt x="568207" y="115998"/>
                  </a:cubicBezTo>
                  <a:cubicBezTo>
                    <a:pt x="568207" y="180062"/>
                    <a:pt x="473276" y="231996"/>
                    <a:pt x="357132" y="231996"/>
                  </a:cubicBezTo>
                  <a:lnTo>
                    <a:pt x="0" y="23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25400" y="-38100"/>
              <a:ext cx="339607" cy="27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985151" y="4529225"/>
            <a:ext cx="758089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4"/>
              </a:lnSpc>
            </a:pPr>
            <a:r>
              <a:rPr lang="en-US" b="true" sz="3400" spc="-20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17574" y="6143725"/>
            <a:ext cx="2876550" cy="3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0"/>
              </a:lnSpc>
              <a:spcBef>
                <a:spcPct val="0"/>
              </a:spcBef>
            </a:pPr>
            <a:r>
              <a:rPr lang="en-US" b="true" sz="1836" spc="-5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결과 반환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17574" y="6830930"/>
            <a:ext cx="2876550" cy="4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처리 결과를 사용자에게</a:t>
            </a:r>
          </a:p>
          <a:p>
            <a:pPr algn="ctr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76767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응답합니다.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91646" y="7715168"/>
            <a:ext cx="2895600" cy="70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성공/실패 메시지 표시</a:t>
            </a:r>
          </a:p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페이지 리다이렉트</a:t>
            </a:r>
          </a:p>
          <a:p>
            <a:pPr algn="l" marL="0" indent="0" lvl="0">
              <a:lnSpc>
                <a:spcPts val="1904"/>
              </a:lnSpc>
            </a:pPr>
            <a:r>
              <a:rPr lang="en-US" b="true" sz="1360" spc="-4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목록 갱신 처리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117574" y="4237261"/>
            <a:ext cx="2876550" cy="1174479"/>
            <a:chOff x="0" y="0"/>
            <a:chExt cx="568207" cy="2319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8207" cy="231996"/>
            </a:xfrm>
            <a:custGeom>
              <a:avLst/>
              <a:gdLst/>
              <a:ahLst/>
              <a:cxnLst/>
              <a:rect r="r" b="b" t="t" l="l"/>
              <a:pathLst>
                <a:path h="231996" w="568207">
                  <a:moveTo>
                    <a:pt x="0" y="0"/>
                  </a:moveTo>
                  <a:lnTo>
                    <a:pt x="357132" y="0"/>
                  </a:lnTo>
                  <a:cubicBezTo>
                    <a:pt x="473276" y="0"/>
                    <a:pt x="568207" y="51934"/>
                    <a:pt x="568207" y="115998"/>
                  </a:cubicBezTo>
                  <a:cubicBezTo>
                    <a:pt x="568207" y="180062"/>
                    <a:pt x="473276" y="231996"/>
                    <a:pt x="357132" y="231996"/>
                  </a:cubicBezTo>
                  <a:lnTo>
                    <a:pt x="0" y="23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25400" y="-38100"/>
              <a:ext cx="339607" cy="27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5176805" y="4529225"/>
            <a:ext cx="758089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4"/>
              </a:lnSpc>
            </a:pPr>
            <a:r>
              <a:rPr lang="en-US" b="true" sz="3400" spc="-20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5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54280" y="2276359"/>
            <a:ext cx="8371214" cy="5734282"/>
          </a:xfrm>
          <a:custGeom>
            <a:avLst/>
            <a:gdLst/>
            <a:ahLst/>
            <a:cxnLst/>
            <a:rect r="r" b="b" t="t" l="l"/>
            <a:pathLst>
              <a:path h="5734282" w="8371214">
                <a:moveTo>
                  <a:pt x="0" y="0"/>
                </a:moveTo>
                <a:lnTo>
                  <a:pt x="8371214" y="0"/>
                </a:lnTo>
                <a:lnTo>
                  <a:pt x="8371214" y="5734282"/>
                </a:lnTo>
                <a:lnTo>
                  <a:pt x="0" y="5734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18144">
            <a:off x="1621853" y="965171"/>
            <a:ext cx="640619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2"/>
              </a:lnSpc>
            </a:pPr>
            <a:r>
              <a:rPr lang="en-US" b="true" sz="5460" spc="-169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내</a:t>
            </a:r>
            <a:r>
              <a:rPr lang="en-US" b="true" sz="5460" spc="-169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장소 목록 표시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9711" y="2340786"/>
            <a:ext cx="5981250" cy="77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3"/>
              </a:lnSpc>
            </a:pPr>
            <a:r>
              <a:rPr lang="en-US" sz="4268" spc="-175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My Places List Display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2725" y="3939327"/>
            <a:ext cx="10028449" cy="220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2498" spc="-89" b="true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사용자가</a:t>
            </a: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저장한 장소 목록을 테이블 형태로 표시합니다.</a:t>
            </a:r>
          </a:p>
          <a:p>
            <a:pPr algn="l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GridView 컨트롤을 활용한 동적 데이터 바인딩을 구현합니다.</a:t>
            </a:r>
          </a:p>
          <a:p>
            <a:pPr algn="l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장소명, 주소, 상태 등 핵심 정보를 직관적 UI로 구성합니다.</a:t>
            </a:r>
          </a:p>
          <a:p>
            <a:pPr algn="l" marL="0" indent="0" lvl="0">
              <a:lnSpc>
                <a:spcPts val="4496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8144">
            <a:off x="1621443" y="901718"/>
            <a:ext cx="752082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65"/>
              </a:lnSpc>
            </a:pPr>
            <a:r>
              <a:rPr lang="en-US" b="true" sz="4471" spc="-138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핵심 기능 2 - 외부 API 파싱 개요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711" y="2115674"/>
            <a:ext cx="6413344" cy="74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95"/>
              </a:lnSpc>
            </a:pPr>
            <a:r>
              <a:rPr lang="en-US" sz="4022" spc="-164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External API Parsing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6088" y="4311531"/>
            <a:ext cx="2691029" cy="1322013"/>
            <a:chOff x="0" y="0"/>
            <a:chExt cx="3588039" cy="176268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588039" cy="1762684"/>
              <a:chOff x="0" y="0"/>
              <a:chExt cx="635000" cy="31195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" cy="311954"/>
              </a:xfrm>
              <a:custGeom>
                <a:avLst/>
                <a:gdLst/>
                <a:ahLst/>
                <a:cxnLst/>
                <a:rect r="r" b="b" t="t" l="l"/>
                <a:pathLst>
                  <a:path h="311954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11954"/>
                    </a:lnTo>
                    <a:lnTo>
                      <a:pt x="0" y="311954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635000" cy="321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85729" y="624113"/>
              <a:ext cx="3016581" cy="590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52"/>
                </a:lnSpc>
              </a:pPr>
              <a:r>
                <a:rPr lang="en-US" b="true" sz="3283" spc="-200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정보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26799" y="4311531"/>
            <a:ext cx="12069863" cy="1347257"/>
            <a:chOff x="0" y="0"/>
            <a:chExt cx="2848116" cy="317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16088" y="6049314"/>
            <a:ext cx="2691029" cy="1322013"/>
            <a:chOff x="0" y="0"/>
            <a:chExt cx="3588039" cy="176268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588039" cy="1762684"/>
              <a:chOff x="0" y="0"/>
              <a:chExt cx="635000" cy="31195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" cy="311954"/>
              </a:xfrm>
              <a:custGeom>
                <a:avLst/>
                <a:gdLst/>
                <a:ahLst/>
                <a:cxnLst/>
                <a:rect r="r" b="b" t="t" l="l"/>
                <a:pathLst>
                  <a:path h="311954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11954"/>
                    </a:lnTo>
                    <a:lnTo>
                      <a:pt x="0" y="311954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635000" cy="321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85729" y="624113"/>
              <a:ext cx="3016581" cy="590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52"/>
                </a:lnSpc>
              </a:pPr>
              <a:r>
                <a:rPr lang="en-US" b="true" sz="3283" spc="-200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데이터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26799" y="6049314"/>
            <a:ext cx="12069863" cy="1347257"/>
            <a:chOff x="0" y="0"/>
            <a:chExt cx="2848116" cy="3179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16088" y="7808417"/>
            <a:ext cx="2691029" cy="1322013"/>
            <a:chOff x="0" y="0"/>
            <a:chExt cx="3588039" cy="176268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588039" cy="1762684"/>
              <a:chOff x="0" y="0"/>
              <a:chExt cx="635000" cy="31195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" cy="311954"/>
              </a:xfrm>
              <a:custGeom>
                <a:avLst/>
                <a:gdLst/>
                <a:ahLst/>
                <a:cxnLst/>
                <a:rect r="r" b="b" t="t" l="l"/>
                <a:pathLst>
                  <a:path h="311954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11954"/>
                    </a:lnTo>
                    <a:lnTo>
                      <a:pt x="0" y="311954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635000" cy="321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85729" y="624113"/>
              <a:ext cx="3016581" cy="590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52"/>
                </a:lnSpc>
              </a:pPr>
              <a:r>
                <a:rPr lang="en-US" b="true" sz="3283" spc="-200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구성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26799" y="7808417"/>
            <a:ext cx="12069863" cy="1347257"/>
            <a:chOff x="0" y="0"/>
            <a:chExt cx="2848116" cy="317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025652" y="4666072"/>
            <a:ext cx="10028449" cy="46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2"/>
              </a:lnSpc>
            </a:pPr>
            <a:r>
              <a:rPr lang="en-US" b="true" sz="2223" spc="-8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부산 날씨 API 및 관광 명소 데이터 API를 활용하여 실시간 정보를 제공합니다.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25652" y="6403854"/>
            <a:ext cx="10028449" cy="46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2"/>
              </a:lnSpc>
            </a:pPr>
            <a:r>
              <a:rPr lang="en-US" b="true" sz="2223" spc="-8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HTTP 요청을 통해 JSON/XML 형식의 응답 데이터를 파싱하여 처리합니다.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25652" y="8162958"/>
            <a:ext cx="10028449" cy="46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2"/>
              </a:lnSpc>
            </a:pPr>
            <a:r>
              <a:rPr lang="en-US" b="true" sz="2223" spc="-8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클라이언트 요청 → 서버 API 호출 → 데이터 파싱 → 웹페이지 렌더링 흐름으로 구성됩니다.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2725" y="6730287"/>
            <a:ext cx="15746575" cy="826695"/>
          </a:xfrm>
          <a:custGeom>
            <a:avLst/>
            <a:gdLst/>
            <a:ahLst/>
            <a:cxnLst/>
            <a:rect r="r" b="b" t="t" l="l"/>
            <a:pathLst>
              <a:path h="826695" w="15746575">
                <a:moveTo>
                  <a:pt x="0" y="0"/>
                </a:moveTo>
                <a:lnTo>
                  <a:pt x="15746575" y="0"/>
                </a:lnTo>
                <a:lnTo>
                  <a:pt x="15746575" y="826695"/>
                </a:lnTo>
                <a:lnTo>
                  <a:pt x="0" y="826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18144">
            <a:off x="1621552" y="965171"/>
            <a:ext cx="640619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8"/>
              </a:lnSpc>
            </a:pPr>
            <a:r>
              <a:rPr lang="en-US" b="true" sz="4706" spc="-145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부산 날씨 정보 실시간 표시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9711" y="2378886"/>
            <a:ext cx="4297176" cy="554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79"/>
              </a:lnSpc>
            </a:pPr>
            <a:r>
              <a:rPr lang="en-US" sz="3038" spc="-124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Real-time Weather Display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2725" y="3939327"/>
            <a:ext cx="10028449" cy="163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실시간 날씨 데이터 요청 및 파싱 과정을 설명합니다.</a:t>
            </a:r>
          </a:p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UI 예시: 현재 날씨, 온도, 상태 아이콘 등을 표시합니다.</a:t>
            </a:r>
          </a:p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API 호출 코드 스니펫 및 JSON 데이터 파싱 예시를 확인합니다.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696447"/>
            <a:ext cx="4465108" cy="4532120"/>
          </a:xfrm>
          <a:custGeom>
            <a:avLst/>
            <a:gdLst/>
            <a:ahLst/>
            <a:cxnLst/>
            <a:rect r="r" b="b" t="t" l="l"/>
            <a:pathLst>
              <a:path h="4532120" w="4465108">
                <a:moveTo>
                  <a:pt x="0" y="0"/>
                </a:moveTo>
                <a:lnTo>
                  <a:pt x="4465108" y="0"/>
                </a:lnTo>
                <a:lnTo>
                  <a:pt x="4465108" y="4532121"/>
                </a:lnTo>
                <a:lnTo>
                  <a:pt x="0" y="4532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9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13660" y="1696447"/>
            <a:ext cx="4061926" cy="3751407"/>
          </a:xfrm>
          <a:custGeom>
            <a:avLst/>
            <a:gdLst/>
            <a:ahLst/>
            <a:cxnLst/>
            <a:rect r="r" b="b" t="t" l="l"/>
            <a:pathLst>
              <a:path h="3751407" w="4061926">
                <a:moveTo>
                  <a:pt x="0" y="0"/>
                </a:moveTo>
                <a:lnTo>
                  <a:pt x="4061926" y="0"/>
                </a:lnTo>
                <a:lnTo>
                  <a:pt x="4061926" y="3751407"/>
                </a:lnTo>
                <a:lnTo>
                  <a:pt x="0" y="37514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03166" y="6370617"/>
            <a:ext cx="3946776" cy="3403258"/>
          </a:xfrm>
          <a:custGeom>
            <a:avLst/>
            <a:gdLst/>
            <a:ahLst/>
            <a:cxnLst/>
            <a:rect r="r" b="b" t="t" l="l"/>
            <a:pathLst>
              <a:path h="3403258" w="3946776">
                <a:moveTo>
                  <a:pt x="0" y="0"/>
                </a:moveTo>
                <a:lnTo>
                  <a:pt x="3946776" y="0"/>
                </a:lnTo>
                <a:lnTo>
                  <a:pt x="3946776" y="3403258"/>
                </a:lnTo>
                <a:lnTo>
                  <a:pt x="0" y="3403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4701" y="5837795"/>
            <a:ext cx="3815570" cy="4138790"/>
          </a:xfrm>
          <a:custGeom>
            <a:avLst/>
            <a:gdLst/>
            <a:ahLst/>
            <a:cxnLst/>
            <a:rect r="r" b="b" t="t" l="l"/>
            <a:pathLst>
              <a:path h="4138790" w="3815570">
                <a:moveTo>
                  <a:pt x="0" y="0"/>
                </a:moveTo>
                <a:lnTo>
                  <a:pt x="3815570" y="0"/>
                </a:lnTo>
                <a:lnTo>
                  <a:pt x="3815570" y="4138789"/>
                </a:lnTo>
                <a:lnTo>
                  <a:pt x="0" y="41387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18144">
            <a:off x="1621552" y="965171"/>
            <a:ext cx="640619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8"/>
              </a:lnSpc>
            </a:pPr>
            <a:r>
              <a:rPr lang="en-US" b="true" sz="4706" spc="-145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부산 관광 명소 데이터 파싱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711" y="2378886"/>
            <a:ext cx="4297176" cy="57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20"/>
              </a:lnSpc>
            </a:pPr>
            <a:r>
              <a:rPr lang="en-US" sz="3195" spc="-131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Tourist Spot Data Parsing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2725" y="3939327"/>
            <a:ext cx="7431250" cy="332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공공데이터 API를 활용한 실시간 </a:t>
            </a: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관광지 정보 수집 및</a:t>
            </a:r>
          </a:p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파싱 로직 설계사용자 편의성을 고려한 지역·가격·테마별 다중 필터링 시스템 구축</a:t>
            </a:r>
          </a:p>
          <a:p>
            <a:pPr algn="l" marL="0" indent="0" lvl="0">
              <a:lnSpc>
                <a:spcPts val="4496"/>
              </a:lnSpc>
            </a:pPr>
          </a:p>
          <a:p>
            <a:pPr algn="l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직관적인 UI/UX 디자인을 통한 실제 서비스 구현 사례 분석</a:t>
            </a:r>
          </a:p>
          <a:p>
            <a:pPr algn="l" marL="0" indent="0" lvl="0">
              <a:lnSpc>
                <a:spcPts val="4496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8144">
            <a:off x="1621552" y="965171"/>
            <a:ext cx="640619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8"/>
              </a:lnSpc>
            </a:pPr>
            <a:r>
              <a:rPr lang="en-US" b="true" sz="4706" spc="-145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핵심 기능 3 - DB 연동 개요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711" y="2359836"/>
            <a:ext cx="6413344" cy="69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88"/>
              </a:lnSpc>
            </a:pPr>
            <a:r>
              <a:rPr lang="en-US" sz="3888" spc="-159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Database Integration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6088" y="4311531"/>
            <a:ext cx="2691029" cy="1299625"/>
            <a:chOff x="0" y="0"/>
            <a:chExt cx="3588039" cy="173283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588039" cy="1732833"/>
              <a:chOff x="0" y="0"/>
              <a:chExt cx="635000" cy="30667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" cy="306671"/>
              </a:xfrm>
              <a:custGeom>
                <a:avLst/>
                <a:gdLst/>
                <a:ahLst/>
                <a:cxnLst/>
                <a:rect r="r" b="b" t="t" l="l"/>
                <a:pathLst>
                  <a:path h="306671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06671"/>
                    </a:lnTo>
                    <a:lnTo>
                      <a:pt x="0" y="306671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635000" cy="316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85729" y="624113"/>
              <a:ext cx="3016581" cy="560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47"/>
                </a:lnSpc>
              </a:pPr>
              <a:r>
                <a:rPr lang="en-US" b="true" sz="3174" spc="-193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저장소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26799" y="4311531"/>
            <a:ext cx="12069863" cy="1347257"/>
            <a:chOff x="0" y="0"/>
            <a:chExt cx="2848116" cy="317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16088" y="6049314"/>
            <a:ext cx="2691029" cy="1299625"/>
            <a:chOff x="0" y="0"/>
            <a:chExt cx="3588039" cy="173283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588039" cy="1732833"/>
              <a:chOff x="0" y="0"/>
              <a:chExt cx="635000" cy="30667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" cy="306671"/>
              </a:xfrm>
              <a:custGeom>
                <a:avLst/>
                <a:gdLst/>
                <a:ahLst/>
                <a:cxnLst/>
                <a:rect r="r" b="b" t="t" l="l"/>
                <a:pathLst>
                  <a:path h="306671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06671"/>
                    </a:lnTo>
                    <a:lnTo>
                      <a:pt x="0" y="306671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635000" cy="316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85729" y="624113"/>
              <a:ext cx="3016581" cy="560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47"/>
                </a:lnSpc>
              </a:pPr>
              <a:r>
                <a:rPr lang="en-US" b="true" sz="3174" spc="-193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쿠키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26799" y="6049314"/>
            <a:ext cx="12069863" cy="1347257"/>
            <a:chOff x="0" y="0"/>
            <a:chExt cx="2848116" cy="3179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16088" y="7808417"/>
            <a:ext cx="2691029" cy="1299625"/>
            <a:chOff x="0" y="0"/>
            <a:chExt cx="3588039" cy="173283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588039" cy="1732833"/>
              <a:chOff x="0" y="0"/>
              <a:chExt cx="635000" cy="3066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" cy="306671"/>
              </a:xfrm>
              <a:custGeom>
                <a:avLst/>
                <a:gdLst/>
                <a:ahLst/>
                <a:cxnLst/>
                <a:rect r="r" b="b" t="t" l="l"/>
                <a:pathLst>
                  <a:path h="306671" w="635000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306671"/>
                    </a:lnTo>
                    <a:lnTo>
                      <a:pt x="0" y="306671"/>
                    </a:lnTo>
                    <a:close/>
                  </a:path>
                </a:pathLst>
              </a:custGeom>
              <a:solidFill>
                <a:srgbClr val="D6D6D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635000" cy="316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4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85729" y="624113"/>
              <a:ext cx="3016581" cy="560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47"/>
                </a:lnSpc>
              </a:pPr>
              <a:r>
                <a:rPr lang="en-US" b="true" sz="3174" spc="-193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로그인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26799" y="7808417"/>
            <a:ext cx="12069863" cy="1347257"/>
            <a:chOff x="0" y="0"/>
            <a:chExt cx="2848116" cy="317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48116" cy="317911"/>
            </a:xfrm>
            <a:custGeom>
              <a:avLst/>
              <a:gdLst/>
              <a:ahLst/>
              <a:cxnLst/>
              <a:rect r="r" b="b" t="t" l="l"/>
              <a:pathLst>
                <a:path h="317911" w="2848116">
                  <a:moveTo>
                    <a:pt x="0" y="0"/>
                  </a:moveTo>
                  <a:lnTo>
                    <a:pt x="2848116" y="0"/>
                  </a:lnTo>
                  <a:lnTo>
                    <a:pt x="2848116" y="317911"/>
                  </a:lnTo>
                  <a:lnTo>
                    <a:pt x="0" y="31791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848116" cy="3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025652" y="4656547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SQL Server 연동 환경 구성으로 안정적인 데이터 저장소 확보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96187" y="6404923"/>
            <a:ext cx="11331087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서버의 메모리나 DB에 세션 정보를 저장하고, 클라이언트에게 세션 ID(쿠키)를 발급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25652" y="8153433"/>
            <a:ext cx="10028449" cy="5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2498" spc="-8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DB를 통한 로그인 기능 구현으로 개인화된 정보를 제공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06481" y="1028700"/>
            <a:ext cx="6552819" cy="8229600"/>
          </a:xfrm>
          <a:custGeom>
            <a:avLst/>
            <a:gdLst/>
            <a:ahLst/>
            <a:cxnLst/>
            <a:rect r="r" b="b" t="t" l="l"/>
            <a:pathLst>
              <a:path h="8229600" w="6552819">
                <a:moveTo>
                  <a:pt x="0" y="0"/>
                </a:moveTo>
                <a:lnTo>
                  <a:pt x="6552819" y="0"/>
                </a:lnTo>
                <a:lnTo>
                  <a:pt x="65528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18144">
            <a:off x="1621526" y="965171"/>
            <a:ext cx="640619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1"/>
              </a:lnSpc>
            </a:pPr>
            <a:r>
              <a:rPr lang="en-US" b="true" sz="4659" spc="-144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리뷰 조회 기능 구현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9711" y="2340786"/>
            <a:ext cx="6413344" cy="72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57"/>
              </a:lnSpc>
            </a:pPr>
            <a:r>
              <a:rPr lang="en-US" sz="3933" spc="-161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Review Lookup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4475" y="3943350"/>
            <a:ext cx="1002982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9"/>
              </a:lnSpc>
              <a:spcBef>
                <a:spcPct val="0"/>
              </a:spcBef>
            </a:pPr>
            <a:r>
              <a:rPr lang="en-US" sz="2499" spc="-89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심층 리뷰와 실시간 평점 시스템을 통해 사용자에게</a:t>
            </a:r>
          </a:p>
          <a:p>
            <a:pPr algn="l" marL="0" indent="0" lvl="0">
              <a:lnSpc>
                <a:spcPts val="4499"/>
              </a:lnSpc>
              <a:spcBef>
                <a:spcPct val="0"/>
              </a:spcBef>
            </a:pPr>
            <a:r>
              <a:rPr lang="en-US" sz="2499" spc="-89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검증된 맛집 정보를 제공하고,</a:t>
            </a:r>
          </a:p>
          <a:p>
            <a:pPr algn="l" marL="0" indent="0" lvl="0">
              <a:lnSpc>
                <a:spcPts val="4499"/>
              </a:lnSpc>
              <a:spcBef>
                <a:spcPct val="0"/>
              </a:spcBef>
            </a:pPr>
            <a:r>
              <a:rPr lang="en-US" sz="2499" spc="-89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신뢰할 수 있는 리뷰 데이터를 기반으로 </a:t>
            </a:r>
          </a:p>
          <a:p>
            <a:pPr algn="l" marL="0" indent="0" lvl="0">
              <a:lnSpc>
                <a:spcPts val="4499"/>
              </a:lnSpc>
              <a:spcBef>
                <a:spcPct val="0"/>
              </a:spcBef>
            </a:pPr>
            <a:r>
              <a:rPr lang="en-US" sz="2499" spc="-89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방문 의사결정을 돕는 핵심 기능입니다.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65844" y="3365344"/>
            <a:ext cx="3556313" cy="3556313"/>
          </a:xfrm>
          <a:custGeom>
            <a:avLst/>
            <a:gdLst/>
            <a:ahLst/>
            <a:cxnLst/>
            <a:rect r="r" b="b" t="t" l="l"/>
            <a:pathLst>
              <a:path h="3556313" w="3556313">
                <a:moveTo>
                  <a:pt x="0" y="0"/>
                </a:moveTo>
                <a:lnTo>
                  <a:pt x="3556312" y="0"/>
                </a:lnTo>
                <a:lnTo>
                  <a:pt x="3556312" y="3556312"/>
                </a:lnTo>
                <a:lnTo>
                  <a:pt x="0" y="3556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19250" y="971550"/>
            <a:ext cx="6410325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97"/>
              </a:lnSpc>
              <a:spcBef>
                <a:spcPct val="0"/>
              </a:spcBef>
            </a:pPr>
            <a:r>
              <a:rPr lang="en-US" b="true" sz="4747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사이트 접속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250" y="1552575"/>
            <a:ext cx="12202517" cy="22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1"/>
              </a:lnSpc>
            </a:pPr>
          </a:p>
          <a:p>
            <a:pPr algn="l">
              <a:lnSpc>
                <a:spcPts val="5921"/>
              </a:lnSpc>
            </a:pPr>
            <a:r>
              <a:rPr lang="en-US" sz="3947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team1.kro.kr</a:t>
            </a:r>
          </a:p>
          <a:p>
            <a:pPr algn="l" marL="0" indent="0" lvl="0">
              <a:lnSpc>
                <a:spcPts val="592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286500" y="7353300"/>
            <a:ext cx="5715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QR코드를 스캔하여 사이트에 접속하세요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8144">
            <a:off x="1623253" y="962235"/>
            <a:ext cx="7517154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2"/>
              </a:lnSpc>
            </a:pPr>
            <a:r>
              <a:rPr lang="en-US" b="true" sz="8993" spc="-278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발표 정리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9711" y="2340786"/>
            <a:ext cx="6413344" cy="77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70"/>
              </a:lnSpc>
            </a:pPr>
            <a:r>
              <a:rPr lang="en-US" sz="4201" spc="-172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Summary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53661" y="4279728"/>
            <a:ext cx="14713164" cy="1364966"/>
            <a:chOff x="0" y="0"/>
            <a:chExt cx="3875072" cy="3594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75072" cy="359497"/>
            </a:xfrm>
            <a:custGeom>
              <a:avLst/>
              <a:gdLst/>
              <a:ahLst/>
              <a:cxnLst/>
              <a:rect r="r" b="b" t="t" l="l"/>
              <a:pathLst>
                <a:path h="359497" w="3875072">
                  <a:moveTo>
                    <a:pt x="0" y="0"/>
                  </a:moveTo>
                  <a:lnTo>
                    <a:pt x="3875072" y="0"/>
                  </a:lnTo>
                  <a:lnTo>
                    <a:pt x="3875072" y="359497"/>
                  </a:lnTo>
                  <a:lnTo>
                    <a:pt x="0" y="359497"/>
                  </a:lnTo>
                  <a:close/>
                </a:path>
              </a:pathLst>
            </a:custGeom>
            <a:solidFill>
              <a:srgbClr val="222222">
                <a:alpha val="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875072" cy="40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53661" y="6006643"/>
            <a:ext cx="14713164" cy="1364966"/>
            <a:chOff x="0" y="0"/>
            <a:chExt cx="3875072" cy="3594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75072" cy="359497"/>
            </a:xfrm>
            <a:custGeom>
              <a:avLst/>
              <a:gdLst/>
              <a:ahLst/>
              <a:cxnLst/>
              <a:rect r="r" b="b" t="t" l="l"/>
              <a:pathLst>
                <a:path h="359497" w="3875072">
                  <a:moveTo>
                    <a:pt x="0" y="0"/>
                  </a:moveTo>
                  <a:lnTo>
                    <a:pt x="3875072" y="0"/>
                  </a:lnTo>
                  <a:lnTo>
                    <a:pt x="3875072" y="359497"/>
                  </a:lnTo>
                  <a:lnTo>
                    <a:pt x="0" y="359497"/>
                  </a:lnTo>
                  <a:close/>
                </a:path>
              </a:pathLst>
            </a:custGeom>
            <a:solidFill>
              <a:srgbClr val="222222">
                <a:alpha val="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875072" cy="40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3661" y="7790709"/>
            <a:ext cx="14713164" cy="1364966"/>
            <a:chOff x="0" y="0"/>
            <a:chExt cx="3875072" cy="3594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75072" cy="359497"/>
            </a:xfrm>
            <a:custGeom>
              <a:avLst/>
              <a:gdLst/>
              <a:ahLst/>
              <a:cxnLst/>
              <a:rect r="r" b="b" t="t" l="l"/>
              <a:pathLst>
                <a:path h="359497" w="3875072">
                  <a:moveTo>
                    <a:pt x="0" y="0"/>
                  </a:moveTo>
                  <a:lnTo>
                    <a:pt x="3875072" y="0"/>
                  </a:lnTo>
                  <a:lnTo>
                    <a:pt x="3875072" y="359497"/>
                  </a:lnTo>
                  <a:lnTo>
                    <a:pt x="0" y="359497"/>
                  </a:lnTo>
                  <a:close/>
                </a:path>
              </a:pathLst>
            </a:custGeom>
            <a:solidFill>
              <a:srgbClr val="222222">
                <a:alpha val="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875072" cy="40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02888" y="4766192"/>
            <a:ext cx="10207170" cy="37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2"/>
              </a:lnSpc>
            </a:pPr>
            <a:r>
              <a:rPr lang="en-US" b="true" sz="2950" spc="-179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IIS 설치부터 웹사이트 배포까지 전체 구축 흐름을 완료했습니다.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2888" y="6493107"/>
            <a:ext cx="10207170" cy="37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2"/>
              </a:lnSpc>
            </a:pPr>
            <a:r>
              <a:rPr lang="en-US" b="true" sz="2950" spc="-179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Todo 이벤트 처리, 외부 API 파싱, DB 연동의 핵심 기술을 습득했습니다.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2888" y="8277173"/>
            <a:ext cx="10207170" cy="37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2"/>
              </a:lnSpc>
            </a:pPr>
            <a:r>
              <a:rPr lang="en-US" b="true" sz="2950" spc="-179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실무 프로젝트에 즉시 적용 가능한 웹 서비스 개발 역량을 확보했습니다.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5400000">
            <a:off x="1716470" y="3510769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5" y="0"/>
                </a:lnTo>
                <a:lnTo>
                  <a:pt x="285395" y="278974"/>
                </a:lnTo>
                <a:lnTo>
                  <a:pt x="0" y="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250" y="962025"/>
            <a:ext cx="752475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7"/>
              </a:lnSpc>
              <a:spcBef>
                <a:spcPct val="0"/>
              </a:spcBef>
            </a:pPr>
            <a:r>
              <a:rPr lang="en-US" b="true" sz="8997" strike="noStrike" u="none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참고문헌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9250" y="2352675"/>
            <a:ext cx="641985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737373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250" y="3648075"/>
            <a:ext cx="14287500" cy="49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[1] https://learn.microsoft.com/ko-kr/iis/get-started/introduction-to-iis/iis-web-server-overview</a:t>
            </a:r>
          </a:p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[2] https://learn.microsoft.com/ko-kr/iis/</a:t>
            </a:r>
          </a:p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[3] https://learn.microsoft.com/ko-kr/iis/get-started/planning-for-security/build-a-custom-iis-server</a:t>
            </a:r>
          </a:p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[4] https://bingo6681.tistory.com/156</a:t>
            </a:r>
          </a:p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[5] https://t-okk.tistory.com/155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00115" y="4549992"/>
            <a:ext cx="285396" cy="278974"/>
          </a:xfrm>
          <a:custGeom>
            <a:avLst/>
            <a:gdLst/>
            <a:ahLst/>
            <a:cxnLst/>
            <a:rect r="r" b="b" t="t" l="l"/>
            <a:pathLst>
              <a:path h="278974" w="285396">
                <a:moveTo>
                  <a:pt x="0" y="0"/>
                </a:moveTo>
                <a:lnTo>
                  <a:pt x="285396" y="0"/>
                </a:lnTo>
                <a:lnTo>
                  <a:pt x="285396" y="278975"/>
                </a:lnTo>
                <a:lnTo>
                  <a:pt x="0" y="2789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944701" y="468597"/>
            <a:ext cx="4180793" cy="356832"/>
            <a:chOff x="0" y="0"/>
            <a:chExt cx="5574391" cy="4757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34425"/>
              <a:ext cx="406925" cy="406925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2545C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90500" y="171450"/>
                <a:ext cx="431800" cy="450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3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50581" y="85725"/>
              <a:ext cx="5023810" cy="390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45"/>
                </a:lnSpc>
              </a:pPr>
              <a:r>
                <a:rPr lang="en-US" b="true" sz="2343" spc="39">
                  <a:solidFill>
                    <a:srgbClr val="222222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IIS 발표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05753" y="1109125"/>
            <a:ext cx="7524289" cy="2911721"/>
            <a:chOff x="0" y="0"/>
            <a:chExt cx="10032385" cy="3882295"/>
          </a:xfrm>
        </p:grpSpPr>
        <p:sp>
          <p:nvSpPr>
            <p:cNvPr name="TextBox 9" id="9"/>
            <p:cNvSpPr txBox="true"/>
            <p:nvPr/>
          </p:nvSpPr>
          <p:spPr>
            <a:xfrm rot="-18144">
              <a:off x="4731" y="16913"/>
              <a:ext cx="10022873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800"/>
                </a:lnSpc>
              </a:pPr>
              <a:r>
                <a:rPr lang="en-US" sz="9000" spc="-279">
                  <a:solidFill>
                    <a:srgbClr val="222222"/>
                  </a:solidFill>
                  <a:latin typeface="Source Han Sans KR Light"/>
                  <a:ea typeface="Source Han Sans KR Light"/>
                  <a:cs typeface="Source Han Sans KR Light"/>
                  <a:sym typeface="Source Han Sans KR Light"/>
                </a:rPr>
                <a:t>Q&amp;A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-18144">
              <a:off x="4731" y="2017533"/>
              <a:ext cx="10022873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800"/>
                </a:lnSpc>
              </a:pPr>
              <a:r>
                <a:rPr lang="en-US" b="true" sz="9000" spc="-279">
                  <a:solidFill>
                    <a:srgbClr val="22222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감사합니다.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05753" y="7935052"/>
            <a:ext cx="10028449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9"/>
              </a:lnSpc>
            </a:pPr>
            <a:r>
              <a:rPr lang="en-US" b="true" sz="2499" spc="-8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질문 있으시면 말씀해 주세요. 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DAHKr0kIn4Y</dc:identifier>
  <dcterms:modified xsi:type="dcterms:W3CDTF">2011-08-01T06:04:30Z</dcterms:modified>
  <cp:revision>1</cp:revision>
  <dc:title>IIS 발표 부산 로컬 플레이스 구축</dc:title>
</cp:coreProperties>
</file>